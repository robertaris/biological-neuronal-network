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sldIdLst>
    <p:sldId id="256" r:id="rId2"/>
    <p:sldId id="257" r:id="rId3"/>
    <p:sldId id="258" r:id="rId4"/>
    <p:sldId id="259" r:id="rId5"/>
    <p:sldId id="260" r:id="rId11"/>
    <p:sldId id="261" r:id="rId12"/>
    <p:sldId id="262" r:id="rId13"/>
    <p:sldId id="263" r:id="rId14"/>
    <p:sldId id="264" r:id="rId15"/>
  </p:sldIdLst>
  <p:notesMasterIdLst>
    <p:notesMasterId r:id="rId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Relationships xmlns="http://schemas.openxmlformats.org/package/2006/relationships"><Relationship Id="rId1" Type="http://schemas.openxmlformats.org/officeDocument/2006/relationships/slideMaster" Target="slideMasters/slideMaster1.xml" /><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notesMaster" Target="notesMasters/notesMaster1.xml" /><Relationship Id="rId7" Type="http://schemas.openxmlformats.org/officeDocument/2006/relationships/presProps" Target="presProps.xml" /><Relationship Id="rId8" Type="http://schemas.openxmlformats.org/officeDocument/2006/relationships/viewProps" Target="viewProps.xml" /><Relationship Id="rId9" Type="http://schemas.openxmlformats.org/officeDocument/2006/relationships/theme" Target="theme/theme1.xml" /><Relationship Id="rId10" Type="http://schemas.openxmlformats.org/officeDocument/2006/relationships/tableStyles" Target="tableStyles.xml" /><Relationship Id="rId11" Type="http://schemas.openxmlformats.org/officeDocument/2006/relationships/slide" Target="slides/slide5.xml" /><Relationship Id="rId12" Type="http://schemas.openxmlformats.org/officeDocument/2006/relationships/slide" Target="slides/slide6.xml" /><Relationship Id="rId13" Type="http://schemas.openxmlformats.org/officeDocument/2006/relationships/slide" Target="slides/slide7.xml" /><Relationship Id="rId14" Type="http://schemas.openxmlformats.org/officeDocument/2006/relationships/slide" Target="slides/slide8.xml" /><Relationship Id="rId15" Type="http://schemas.openxmlformats.org/officeDocument/2006/relationships/slide" Target="slides/slide9.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Task 1, we solve a decoding problem. For each trial, we receive the post-stimulus population response of the biological neural network, and our goal is to predict which of the 16 stimulation patterns caused it. Our final model uses network 6 at DIV 40. Each response is represented as a matrix with 160 electrodes and 80 time bins, so the model sees both where activity happens and when it happens after stimulation. We used a stratified random validation split with about 66 thousand training trials and 7.3 thousand validation trials. The hidden test set contains 9,839 trials, but we do not know the labels there, so we can only export predictions for submission.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main assumption is that each stimulation pattern produces a reproducible spatial-temporal response fingerprint. Therefore, the model is designed to use both timing and spatial structure. The temporal CNN extracts timing features across the 80 time bins. The graph part uses electrode topology, so nearby electrodes can exchange information. Class attention lets the model focus on pattern-specific response regions. The strongest and most interpretable part is the class prototype mechanism. For each class, we compute the average response pattern from the training data only. A new trial is then compared to these class prototypes, almost like template matching. In the final model, frequency features were disabled, so the classifier mainly relies on the neural response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trained the model with cross-entropy loss, which is standard for multi-class classification, and used AdamW as optimizer. Our primary model-selection metric was macro-F1, because all 16 stimulation patterns should matter equally. The validation split was stratified, so the validation set has a similar distribution to the training set. Importantly, response normalization and class prototypes were computed from the training set only. During training, performance improved very quickly in the first few epochs, then reached a plateau. The best checkpoint was at epoch 45, and training stopped at epoch 61 because validation macro-F1 did not improve further for 16 checks.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 validation performance was very strong. The model reached 98.54 percent macro-F1 and 98.54 percent accuracy, compared with a chance level of only 6.25 percent. The result is also stable across stimulation frequencies; even the worst observed frequency is still around 96.9 percent. The main failure mode is very specific: pattern 2 is sometimes predicted as pattern 0. Pattern 2 has the lowest F1 score, around 91.6 percent, while most other patterns are close to perfect. This suggests that patterns 0 and 2 produce relatively similar response fingerprints. Overall, we interpret the result as evidence that the stimulation identity is strongly encoded in the spatial-temporal population response. The main limitation is that our validation tests held-out trials from the same recording distribution, not cross-network generalization.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task2_spatial_activity_true_vs_pred.png"/><Relationship Id="rId2" Type="http://schemas.openxmlformats.org/officeDocument/2006/relationships/image" Target="../media/image-4-1.png"/><Relationship Id="rId3"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4-1.png"/><Relationship Id="rId3"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image" Target="../media/task2_training_w1_curve.png"/><Relationship Id="rId2" Type="http://schemas.openxmlformats.org/officeDocument/2006/relationships/image" Target="../media/image-4-1.png"/><Relationship Id="rId3"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image" Target="../media/task2_psth_true_vs_pred.png"/><Relationship Id="rId2" Type="http://schemas.openxmlformats.org/officeDocument/2006/relationships/image" Target="../media/image-4-1.png"/><Relationship Id="rId3"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image" Target="../media/task2_topology_relation_gates.png"/><Relationship Id="rId2" Type="http://schemas.openxmlformats.org/officeDocument/2006/relationships/image" Target="../media/image-4-1.png"/><Relationship Id="rId3"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02920"/>
            <a:ext cx="10012680" cy="502920"/>
          </a:xfrm>
          <a:prstGeom prst="rect">
            <a:avLst/>
          </a:prstGeom>
          <a:noFill/>
          <a:ln/>
        </p:spPr>
        <p:txBody>
          <a:bodyPr wrap="square" lIns="0" tIns="0" rIns="0" bIns="0" rtlCol="0" anchor="ctr">
            <a:normAutofit/>
          </a:bodyPr>
          <a:lstStyle/>
          <a:p>
            <a:pPr indent="0" marL="0">
              <a:buNone/>
            </a:pPr>
            <a:r>
              <a:rPr lang="en-US" sz="2900" b="1" dirty="0">
                <a:solidFill>
                  <a:srgbClr val="111111"/>
                </a:solidFill>
                <a:latin typeface="Arial" pitchFamily="34" charset="0"/>
                <a:ea typeface="Arial" pitchFamily="34" charset="-122"/>
                <a:cs typeface="Arial" pitchFamily="34" charset="-120"/>
              </a:rPr>
              <a:t>Task 1: decoding stimulation patterns</a:t>
            </a:r>
            <a:endParaRPr lang="en-US" sz="2900" dirty="0"/>
          </a:p>
        </p:txBody>
      </p:sp>
      <p:sp>
        <p:nvSpPr>
          <p:cNvPr id="3" name="Text 1"/>
          <p:cNvSpPr/>
          <p:nvPr/>
        </p:nvSpPr>
        <p:spPr>
          <a:xfrm>
            <a:off x="850392" y="1069848"/>
            <a:ext cx="10012680" cy="256032"/>
          </a:xfrm>
          <a:prstGeom prst="rect">
            <a:avLst/>
          </a:prstGeom>
          <a:noFill/>
          <a:ln/>
        </p:spPr>
        <p:txBody>
          <a:bodyPr wrap="square" lIns="0" tIns="0" rIns="0" bIns="0" rtlCol="0" anchor="ctr">
            <a:normAutofit/>
          </a:bodyPr>
          <a:lstStyle/>
          <a:p>
            <a:pPr indent="0" marL="0">
              <a:buNone/>
            </a:pPr>
            <a:r>
              <a:rPr lang="en-US" sz="1200" dirty="0">
                <a:solidFill>
                  <a:srgbClr val="666666"/>
                </a:solidFill>
                <a:latin typeface="Arial" pitchFamily="34" charset="0"/>
                <a:ea typeface="Arial" pitchFamily="34" charset="-122"/>
                <a:cs typeface="Arial" pitchFamily="34" charset="-120"/>
              </a:rPr>
              <a:t>Predict which of 16 stimulation patterns caused a neural population response.</a:t>
            </a:r>
            <a:endParaRPr lang="en-US" sz="1200" dirty="0"/>
          </a:p>
        </p:txBody>
      </p:sp>
      <p:sp>
        <p:nvSpPr>
          <p:cNvPr id="4" name="Shape 2"/>
          <p:cNvSpPr/>
          <p:nvPr/>
        </p:nvSpPr>
        <p:spPr>
          <a:xfrm>
            <a:off x="822960" y="1417320"/>
            <a:ext cx="10607040" cy="0"/>
          </a:xfrm>
          <a:prstGeom prst="line">
            <a:avLst/>
          </a:prstGeom>
          <a:noFill/>
          <a:ln w="12700">
            <a:solidFill>
              <a:srgbClr val="DDE4EA"/>
            </a:solidFill>
            <a:prstDash val="solid"/>
          </a:ln>
        </p:spPr>
      </p:sp>
      <p:sp>
        <p:nvSpPr>
          <p:cNvPr id="5" name="Text 3"/>
          <p:cNvSpPr/>
          <p:nvPr/>
        </p:nvSpPr>
        <p:spPr>
          <a:xfrm>
            <a:off x="868680" y="1783080"/>
            <a:ext cx="2011680" cy="182880"/>
          </a:xfrm>
          <a:prstGeom prst="rect">
            <a:avLst/>
          </a:prstGeom>
          <a:noFill/>
          <a:ln/>
        </p:spPr>
        <p:txBody>
          <a:bodyPr wrap="square" lIns="0" tIns="0" rIns="0" bIns="0" rtlCol="0" anchor="ctr">
            <a:normAutofit/>
          </a:bodyPr>
          <a:lstStyle/>
          <a:p>
            <a:pPr indent="0" marL="0">
              <a:buNone/>
            </a:pPr>
            <a:r>
              <a:rPr lang="en-US" sz="750" b="1" dirty="0">
                <a:solidFill>
                  <a:srgbClr val="005293"/>
                </a:solidFill>
                <a:latin typeface="Arial" pitchFamily="34" charset="0"/>
                <a:ea typeface="Arial" pitchFamily="34" charset="-122"/>
                <a:cs typeface="Arial" pitchFamily="34" charset="-120"/>
              </a:rPr>
              <a:t>INPUT RESPONSE X</a:t>
            </a:r>
            <a:endParaRPr lang="en-US" sz="750" dirty="0"/>
          </a:p>
        </p:txBody>
      </p:sp>
      <p:pic>
        <p:nvPicPr>
          <p:cNvPr id="6" name="Image 0" descr="/Users/adrian/Desktop/P&amp;S/outputs/task1_clean_response_matrix.png">    </p:cNvPr>
          <p:cNvPicPr>
            <a:picLocks noChangeAspect="1"/>
          </p:cNvPicPr>
          <p:nvPr/>
        </p:nvPicPr>
        <p:blipFill>
          <a:blip r:embed="rId1"/>
          <a:stretch>
            <a:fillRect/>
          </a:stretch>
        </p:blipFill>
        <p:spPr>
          <a:xfrm>
            <a:off x="868680" y="2029968"/>
            <a:ext cx="4160520" cy="2148840"/>
          </a:xfrm>
          <a:prstGeom prst="rect">
            <a:avLst/>
          </a:prstGeom>
        </p:spPr>
      </p:pic>
      <p:sp>
        <p:nvSpPr>
          <p:cNvPr id="7" name="Text 4"/>
          <p:cNvSpPr/>
          <p:nvPr/>
        </p:nvSpPr>
        <p:spPr>
          <a:xfrm>
            <a:off x="868680" y="4270248"/>
            <a:ext cx="4160520" cy="246888"/>
          </a:xfrm>
          <a:prstGeom prst="rect">
            <a:avLst/>
          </a:prstGeom>
          <a:noFill/>
          <a:ln/>
        </p:spPr>
        <p:txBody>
          <a:bodyPr wrap="square" lIns="0" tIns="0" rIns="0" bIns="0" rtlCol="0" anchor="ctr">
            <a:normAutofit/>
          </a:bodyPr>
          <a:lstStyle/>
          <a:p>
            <a:pPr indent="0" marL="0">
              <a:buNone/>
            </a:pPr>
            <a:r>
              <a:rPr lang="en-US" sz="1200" b="1" dirty="0">
                <a:solidFill>
                  <a:srgbClr val="111111"/>
                </a:solidFill>
                <a:latin typeface="Arial" pitchFamily="34" charset="0"/>
                <a:ea typeface="Arial" pitchFamily="34" charset="-122"/>
                <a:cs typeface="Arial" pitchFamily="34" charset="-120"/>
              </a:rPr>
              <a:t>160 electrodes × 80 time bins</a:t>
            </a:r>
            <a:endParaRPr lang="en-US" sz="1200" dirty="0"/>
          </a:p>
        </p:txBody>
      </p:sp>
      <p:sp>
        <p:nvSpPr>
          <p:cNvPr id="8" name="Text 5"/>
          <p:cNvSpPr/>
          <p:nvPr/>
        </p:nvSpPr>
        <p:spPr>
          <a:xfrm>
            <a:off x="868680" y="4590288"/>
            <a:ext cx="4343400" cy="411480"/>
          </a:xfrm>
          <a:prstGeom prst="rect">
            <a:avLst/>
          </a:prstGeom>
          <a:noFill/>
          <a:ln/>
        </p:spPr>
        <p:txBody>
          <a:bodyPr wrap="square" lIns="0" tIns="0" rIns="0" bIns="0" rtlCol="0" anchor="ctr">
            <a:normAutofit/>
          </a:bodyPr>
          <a:lstStyle/>
          <a:p>
            <a:pPr indent="0" marL="0">
              <a:buNone/>
            </a:pPr>
            <a:r>
              <a:rPr lang="en-US" sz="1000" dirty="0">
                <a:solidFill>
                  <a:srgbClr val="666666"/>
                </a:solidFill>
                <a:latin typeface="Arial" pitchFamily="34" charset="0"/>
                <a:ea typeface="Arial" pitchFamily="34" charset="-122"/>
                <a:cs typeface="Arial" pitchFamily="34" charset="-120"/>
              </a:rPr>
              <a:t>One trial = one stimulation event plus its post-stimulus raster-like response.</a:t>
            </a:r>
            <a:endParaRPr lang="en-US" sz="1000" dirty="0"/>
          </a:p>
        </p:txBody>
      </p:sp>
      <p:sp>
        <p:nvSpPr>
          <p:cNvPr id="9" name="Shape 6"/>
          <p:cNvSpPr/>
          <p:nvPr/>
        </p:nvSpPr>
        <p:spPr>
          <a:xfrm>
            <a:off x="5266944" y="2971800"/>
            <a:ext cx="749808" cy="0"/>
          </a:xfrm>
          <a:prstGeom prst="line">
            <a:avLst/>
          </a:prstGeom>
          <a:noFill/>
          <a:ln w="20320">
            <a:solidFill>
              <a:srgbClr val="222222"/>
            </a:solidFill>
            <a:prstDash val="solid"/>
            <a:headEnd type="none"/>
            <a:tailEnd type="triangle"/>
          </a:ln>
        </p:spPr>
      </p:sp>
      <p:sp>
        <p:nvSpPr>
          <p:cNvPr id="10" name="Shape 7"/>
          <p:cNvSpPr/>
          <p:nvPr/>
        </p:nvSpPr>
        <p:spPr>
          <a:xfrm>
            <a:off x="6272784" y="2331720"/>
            <a:ext cx="1554480" cy="1280160"/>
          </a:xfrm>
          <a:prstGeom prst="roundRect">
            <a:avLst>
              <a:gd name="adj" fmla="val 5714"/>
            </a:avLst>
          </a:prstGeom>
          <a:solidFill>
            <a:srgbClr val="FFFFFF"/>
          </a:solidFill>
          <a:ln w="12700">
            <a:solidFill>
              <a:srgbClr val="222222"/>
            </a:solidFill>
            <a:prstDash val="solid"/>
          </a:ln>
        </p:spPr>
      </p:sp>
      <p:sp>
        <p:nvSpPr>
          <p:cNvPr id="11" name="Text 8"/>
          <p:cNvSpPr/>
          <p:nvPr/>
        </p:nvSpPr>
        <p:spPr>
          <a:xfrm>
            <a:off x="6382512" y="2670048"/>
            <a:ext cx="1335024" cy="457200"/>
          </a:xfrm>
          <a:prstGeom prst="rect">
            <a:avLst/>
          </a:prstGeom>
          <a:noFill/>
          <a:ln/>
        </p:spPr>
        <p:txBody>
          <a:bodyPr wrap="square" lIns="0" tIns="0" rIns="0" bIns="0" rtlCol="0" anchor="ctr">
            <a:normAutofit/>
          </a:bodyPr>
          <a:lstStyle/>
          <a:p>
            <a:pPr indent="0" marL="0">
              <a:buNone/>
            </a:pPr>
            <a:r>
              <a:rPr lang="en-US" sz="1300" b="1" dirty="0">
                <a:solidFill>
                  <a:srgbClr val="111111"/>
                </a:solidFill>
                <a:latin typeface="Arial" pitchFamily="34" charset="0"/>
                <a:ea typeface="Arial" pitchFamily="34" charset="-122"/>
                <a:cs typeface="Arial" pitchFamily="34" charset="-120"/>
              </a:rPr>
              <a:t>16-class</a:t>
            </a:r>
            <a:endParaRPr lang="en-US" sz="1300" dirty="0"/>
          </a:p>
          <a:p>
            <a:pPr indent="0" marL="0">
              <a:buNone/>
            </a:pPr>
            <a:r>
              <a:rPr lang="en-US" sz="1300" b="1" dirty="0">
                <a:solidFill>
                  <a:srgbClr val="111111"/>
                </a:solidFill>
                <a:latin typeface="Arial" pitchFamily="34" charset="0"/>
                <a:ea typeface="Arial" pitchFamily="34" charset="-122"/>
                <a:cs typeface="Arial" pitchFamily="34" charset="-120"/>
              </a:rPr>
              <a:t>classifier</a:t>
            </a:r>
            <a:endParaRPr lang="en-US" sz="1300" dirty="0"/>
          </a:p>
        </p:txBody>
      </p:sp>
      <p:sp>
        <p:nvSpPr>
          <p:cNvPr id="12" name="Shape 9"/>
          <p:cNvSpPr/>
          <p:nvPr/>
        </p:nvSpPr>
        <p:spPr>
          <a:xfrm>
            <a:off x="8028432" y="2971800"/>
            <a:ext cx="841248" cy="0"/>
          </a:xfrm>
          <a:prstGeom prst="line">
            <a:avLst/>
          </a:prstGeom>
          <a:noFill/>
          <a:ln w="20320">
            <a:solidFill>
              <a:srgbClr val="222222"/>
            </a:solidFill>
            <a:prstDash val="solid"/>
            <a:headEnd type="none"/>
            <a:tailEnd type="triangle"/>
          </a:ln>
        </p:spPr>
      </p:sp>
      <p:sp>
        <p:nvSpPr>
          <p:cNvPr id="13" name="Shape 10"/>
          <p:cNvSpPr/>
          <p:nvPr/>
        </p:nvSpPr>
        <p:spPr>
          <a:xfrm>
            <a:off x="9070848" y="2468880"/>
            <a:ext cx="1417320" cy="1005840"/>
          </a:xfrm>
          <a:prstGeom prst="roundRect">
            <a:avLst>
              <a:gd name="adj" fmla="val 7273"/>
            </a:avLst>
          </a:prstGeom>
          <a:solidFill>
            <a:srgbClr val="ECF8F6"/>
          </a:solidFill>
          <a:ln w="12700">
            <a:solidFill>
              <a:srgbClr val="008575"/>
            </a:solidFill>
            <a:prstDash val="solid"/>
          </a:ln>
        </p:spPr>
      </p:sp>
      <p:sp>
        <p:nvSpPr>
          <p:cNvPr id="14" name="Text 11"/>
          <p:cNvSpPr/>
          <p:nvPr/>
        </p:nvSpPr>
        <p:spPr>
          <a:xfrm>
            <a:off x="9180576" y="2834640"/>
            <a:ext cx="1197864" cy="274320"/>
          </a:xfrm>
          <a:prstGeom prst="rect">
            <a:avLst/>
          </a:prstGeom>
          <a:noFill/>
          <a:ln/>
        </p:spPr>
        <p:txBody>
          <a:bodyPr wrap="square" lIns="0" tIns="0" rIns="0" bIns="0" rtlCol="0" anchor="ctr">
            <a:normAutofit/>
          </a:bodyPr>
          <a:lstStyle/>
          <a:p>
            <a:pPr indent="0" marL="0">
              <a:buNone/>
            </a:pPr>
            <a:r>
              <a:rPr lang="en-US" sz="1300" b="1" dirty="0">
                <a:solidFill>
                  <a:srgbClr val="111111"/>
                </a:solidFill>
                <a:latin typeface="Arial" pitchFamily="34" charset="0"/>
                <a:ea typeface="Arial" pitchFamily="34" charset="-122"/>
                <a:cs typeface="Arial" pitchFamily="34" charset="-120"/>
              </a:rPr>
              <a:t>ŷ ∈ {0,…,15}</a:t>
            </a:r>
            <a:endParaRPr lang="en-US" sz="1300" dirty="0"/>
          </a:p>
        </p:txBody>
      </p:sp>
      <p:sp>
        <p:nvSpPr>
          <p:cNvPr id="15" name="Text 12"/>
          <p:cNvSpPr/>
          <p:nvPr/>
        </p:nvSpPr>
        <p:spPr>
          <a:xfrm>
            <a:off x="6263640" y="4315968"/>
            <a:ext cx="1280160" cy="502920"/>
          </a:xfrm>
          <a:prstGeom prst="rect">
            <a:avLst/>
          </a:prstGeom>
          <a:noFill/>
          <a:ln/>
        </p:spPr>
        <p:txBody>
          <a:bodyPr wrap="square" lIns="0" tIns="0" rIns="0" bIns="0" rtlCol="0" anchor="ctr">
            <a:normAutofit/>
          </a:bodyPr>
          <a:lstStyle/>
          <a:p>
            <a:pPr indent="0" marL="0">
              <a:buNone/>
            </a:pPr>
            <a:r>
              <a:rPr lang="en-US" sz="2500" b="1" dirty="0">
                <a:solidFill>
                  <a:srgbClr val="666666"/>
                </a:solidFill>
                <a:latin typeface="Arial" pitchFamily="34" charset="0"/>
                <a:ea typeface="Arial" pitchFamily="34" charset="-122"/>
                <a:cs typeface="Arial" pitchFamily="34" charset="-120"/>
              </a:rPr>
              <a:t>6.25%</a:t>
            </a:r>
            <a:endParaRPr lang="en-US" sz="2500" dirty="0"/>
          </a:p>
        </p:txBody>
      </p:sp>
      <p:sp>
        <p:nvSpPr>
          <p:cNvPr id="16" name="Text 13"/>
          <p:cNvSpPr/>
          <p:nvPr/>
        </p:nvSpPr>
        <p:spPr>
          <a:xfrm>
            <a:off x="6263640" y="4828032"/>
            <a:ext cx="1280160" cy="228600"/>
          </a:xfrm>
          <a:prstGeom prst="rect">
            <a:avLst/>
          </a:prstGeom>
          <a:noFill/>
          <a:ln/>
        </p:spPr>
        <p:txBody>
          <a:bodyPr wrap="square" lIns="0" tIns="0" rIns="0" bIns="0" rtlCol="0" anchor="ctr">
            <a:normAutofit/>
          </a:bodyPr>
          <a:lstStyle/>
          <a:p>
            <a:pPr indent="0" marL="0">
              <a:buNone/>
            </a:pPr>
            <a:r>
              <a:rPr lang="en-US" sz="960" dirty="0">
                <a:solidFill>
                  <a:srgbClr val="666666"/>
                </a:solidFill>
                <a:latin typeface="Arial" pitchFamily="34" charset="0"/>
                <a:ea typeface="Arial" pitchFamily="34" charset="-122"/>
                <a:cs typeface="Arial" pitchFamily="34" charset="-120"/>
              </a:rPr>
              <a:t>chance level</a:t>
            </a:r>
            <a:endParaRPr lang="en-US" sz="960" dirty="0"/>
          </a:p>
        </p:txBody>
      </p:sp>
      <p:sp>
        <p:nvSpPr>
          <p:cNvPr id="17" name="Text 14"/>
          <p:cNvSpPr/>
          <p:nvPr/>
        </p:nvSpPr>
        <p:spPr>
          <a:xfrm>
            <a:off x="7726680" y="4315968"/>
            <a:ext cx="1371600" cy="502920"/>
          </a:xfrm>
          <a:prstGeom prst="rect">
            <a:avLst/>
          </a:prstGeom>
          <a:noFill/>
          <a:ln/>
        </p:spPr>
        <p:txBody>
          <a:bodyPr wrap="square" lIns="0" tIns="0" rIns="0" bIns="0" rtlCol="0" anchor="ctr">
            <a:normAutofit/>
          </a:bodyPr>
          <a:lstStyle/>
          <a:p>
            <a:pPr indent="0" marL="0">
              <a:buNone/>
            </a:pPr>
            <a:r>
              <a:rPr lang="en-US" sz="2500" b="1" dirty="0">
                <a:solidFill>
                  <a:srgbClr val="111111"/>
                </a:solidFill>
                <a:latin typeface="Arial" pitchFamily="34" charset="0"/>
                <a:ea typeface="Arial" pitchFamily="34" charset="-122"/>
                <a:cs typeface="Arial" pitchFamily="34" charset="-120"/>
              </a:rPr>
              <a:t>66,038</a:t>
            </a:r>
            <a:endParaRPr lang="en-US" sz="2500" dirty="0"/>
          </a:p>
        </p:txBody>
      </p:sp>
      <p:sp>
        <p:nvSpPr>
          <p:cNvPr id="18" name="Text 15"/>
          <p:cNvSpPr/>
          <p:nvPr/>
        </p:nvSpPr>
        <p:spPr>
          <a:xfrm>
            <a:off x="7726680" y="4828032"/>
            <a:ext cx="1371600" cy="228600"/>
          </a:xfrm>
          <a:prstGeom prst="rect">
            <a:avLst/>
          </a:prstGeom>
          <a:noFill/>
          <a:ln/>
        </p:spPr>
        <p:txBody>
          <a:bodyPr wrap="square" lIns="0" tIns="0" rIns="0" bIns="0" rtlCol="0" anchor="ctr">
            <a:normAutofit/>
          </a:bodyPr>
          <a:lstStyle/>
          <a:p>
            <a:pPr indent="0" marL="0">
              <a:buNone/>
            </a:pPr>
            <a:r>
              <a:rPr lang="en-US" sz="960" dirty="0">
                <a:solidFill>
                  <a:srgbClr val="666666"/>
                </a:solidFill>
                <a:latin typeface="Arial" pitchFamily="34" charset="0"/>
                <a:ea typeface="Arial" pitchFamily="34" charset="-122"/>
                <a:cs typeface="Arial" pitchFamily="34" charset="-120"/>
              </a:rPr>
              <a:t>training trials</a:t>
            </a:r>
            <a:endParaRPr lang="en-US" sz="960" dirty="0"/>
          </a:p>
        </p:txBody>
      </p:sp>
      <p:sp>
        <p:nvSpPr>
          <p:cNvPr id="19" name="Text 16"/>
          <p:cNvSpPr/>
          <p:nvPr/>
        </p:nvSpPr>
        <p:spPr>
          <a:xfrm>
            <a:off x="9189720" y="4315968"/>
            <a:ext cx="1371600" cy="502920"/>
          </a:xfrm>
          <a:prstGeom prst="rect">
            <a:avLst/>
          </a:prstGeom>
          <a:noFill/>
          <a:ln/>
        </p:spPr>
        <p:txBody>
          <a:bodyPr wrap="square" lIns="0" tIns="0" rIns="0" bIns="0" rtlCol="0" anchor="ctr">
            <a:normAutofit/>
          </a:bodyPr>
          <a:lstStyle/>
          <a:p>
            <a:pPr indent="0" marL="0">
              <a:buNone/>
            </a:pPr>
            <a:r>
              <a:rPr lang="en-US" sz="2500" b="1" dirty="0">
                <a:solidFill>
                  <a:srgbClr val="111111"/>
                </a:solidFill>
                <a:latin typeface="Arial" pitchFamily="34" charset="0"/>
                <a:ea typeface="Arial" pitchFamily="34" charset="-122"/>
                <a:cs typeface="Arial" pitchFamily="34" charset="-120"/>
              </a:rPr>
              <a:t>7,341</a:t>
            </a:r>
            <a:endParaRPr lang="en-US" sz="2500" dirty="0"/>
          </a:p>
        </p:txBody>
      </p:sp>
      <p:sp>
        <p:nvSpPr>
          <p:cNvPr id="20" name="Text 17"/>
          <p:cNvSpPr/>
          <p:nvPr/>
        </p:nvSpPr>
        <p:spPr>
          <a:xfrm>
            <a:off x="9189720" y="4828032"/>
            <a:ext cx="1371600" cy="228600"/>
          </a:xfrm>
          <a:prstGeom prst="rect">
            <a:avLst/>
          </a:prstGeom>
          <a:noFill/>
          <a:ln/>
        </p:spPr>
        <p:txBody>
          <a:bodyPr wrap="square" lIns="0" tIns="0" rIns="0" bIns="0" rtlCol="0" anchor="ctr">
            <a:normAutofit/>
          </a:bodyPr>
          <a:lstStyle/>
          <a:p>
            <a:pPr indent="0" marL="0">
              <a:buNone/>
            </a:pPr>
            <a:r>
              <a:rPr lang="en-US" sz="960" dirty="0">
                <a:solidFill>
                  <a:srgbClr val="666666"/>
                </a:solidFill>
                <a:latin typeface="Arial" pitchFamily="34" charset="0"/>
                <a:ea typeface="Arial" pitchFamily="34" charset="-122"/>
                <a:cs typeface="Arial" pitchFamily="34" charset="-120"/>
              </a:rPr>
              <a:t>validation trials</a:t>
            </a:r>
            <a:endParaRPr lang="en-US" sz="960" dirty="0"/>
          </a:p>
        </p:txBody>
      </p:sp>
      <p:sp>
        <p:nvSpPr>
          <p:cNvPr id="21" name="Text 18"/>
          <p:cNvSpPr/>
          <p:nvPr/>
        </p:nvSpPr>
        <p:spPr>
          <a:xfrm>
            <a:off x="10625328" y="4315968"/>
            <a:ext cx="1234440" cy="502920"/>
          </a:xfrm>
          <a:prstGeom prst="rect">
            <a:avLst/>
          </a:prstGeom>
          <a:noFill/>
          <a:ln/>
        </p:spPr>
        <p:txBody>
          <a:bodyPr wrap="square" lIns="0" tIns="0" rIns="0" bIns="0" rtlCol="0" anchor="ctr">
            <a:normAutofit/>
          </a:bodyPr>
          <a:lstStyle/>
          <a:p>
            <a:pPr indent="0" marL="0">
              <a:buNone/>
            </a:pPr>
            <a:r>
              <a:rPr lang="en-US" sz="2500" b="1" dirty="0">
                <a:solidFill>
                  <a:srgbClr val="111111"/>
                </a:solidFill>
                <a:latin typeface="Arial" pitchFamily="34" charset="0"/>
                <a:ea typeface="Arial" pitchFamily="34" charset="-122"/>
                <a:cs typeface="Arial" pitchFamily="34" charset="-120"/>
              </a:rPr>
              <a:t>9,839</a:t>
            </a:r>
            <a:endParaRPr lang="en-US" sz="2500" dirty="0"/>
          </a:p>
        </p:txBody>
      </p:sp>
      <p:sp>
        <p:nvSpPr>
          <p:cNvPr id="22" name="Text 19"/>
          <p:cNvSpPr/>
          <p:nvPr/>
        </p:nvSpPr>
        <p:spPr>
          <a:xfrm>
            <a:off x="10625328" y="4828032"/>
            <a:ext cx="1234440" cy="228600"/>
          </a:xfrm>
          <a:prstGeom prst="rect">
            <a:avLst/>
          </a:prstGeom>
          <a:noFill/>
          <a:ln/>
        </p:spPr>
        <p:txBody>
          <a:bodyPr wrap="square" lIns="0" tIns="0" rIns="0" bIns="0" rtlCol="0" anchor="ctr">
            <a:normAutofit/>
          </a:bodyPr>
          <a:lstStyle/>
          <a:p>
            <a:pPr indent="0" marL="0">
              <a:buNone/>
            </a:pPr>
            <a:r>
              <a:rPr lang="en-US" sz="960" dirty="0">
                <a:solidFill>
                  <a:srgbClr val="666666"/>
                </a:solidFill>
                <a:latin typeface="Arial" pitchFamily="34" charset="0"/>
                <a:ea typeface="Arial" pitchFamily="34" charset="-122"/>
                <a:cs typeface="Arial" pitchFamily="34" charset="-120"/>
              </a:rPr>
              <a:t>hidden test trials</a:t>
            </a:r>
            <a:endParaRPr lang="en-US" sz="960" dirty="0"/>
          </a:p>
        </p:txBody>
      </p:sp>
      <p:sp>
        <p:nvSpPr>
          <p:cNvPr id="23" name="Text 20"/>
          <p:cNvSpPr/>
          <p:nvPr/>
        </p:nvSpPr>
        <p:spPr>
          <a:xfrm>
            <a:off x="6263640" y="5166360"/>
            <a:ext cx="5303520" cy="292608"/>
          </a:xfrm>
          <a:prstGeom prst="rect">
            <a:avLst/>
          </a:prstGeom>
          <a:noFill/>
          <a:ln/>
        </p:spPr>
        <p:txBody>
          <a:bodyPr wrap="square" lIns="0" tIns="0" rIns="0" bIns="0" rtlCol="0" anchor="ctr">
            <a:normAutofit/>
          </a:bodyPr>
          <a:lstStyle/>
          <a:p>
            <a:pPr indent="0" marL="0">
              <a:buNone/>
            </a:pPr>
            <a:r>
              <a:rPr lang="en-US" sz="1050" b="1" dirty="0">
                <a:solidFill>
                  <a:srgbClr val="111111"/>
                </a:solidFill>
                <a:latin typeface="Arial" pitchFamily="34" charset="0"/>
                <a:ea typeface="Arial" pitchFamily="34" charset="-122"/>
                <a:cs typeface="Arial" pitchFamily="34" charset="-120"/>
              </a:rPr>
              <a:t>Final setting: network 6, DIV 40, within-recording held-out trials.</a:t>
            </a:r>
            <a:endParaRPr lang="en-US" sz="1050" dirty="0"/>
          </a:p>
        </p:txBody>
      </p:sp>
      <p:pic>
        <p:nvPicPr>
          <p:cNvPr id="24" name="Image 1" descr="/Users/adrian/Desktop/P&amp;S/outputs/presentation_assets/eth_image1.png">    </p:cNvPr>
          <p:cNvPicPr>
            <a:picLocks noChangeAspect="1"/>
          </p:cNvPicPr>
          <p:nvPr/>
        </p:nvPicPr>
        <p:blipFill>
          <a:blip r:embed="rId2"/>
          <a:stretch>
            <a:fillRect/>
          </a:stretch>
        </p:blipFill>
        <p:spPr>
          <a:xfrm>
            <a:off x="566928" y="6355080"/>
            <a:ext cx="1143000" cy="187452"/>
          </a:xfrm>
          <a:prstGeom prst="rect">
            <a:avLst/>
          </a:prstGeom>
        </p:spPr>
      </p:pic>
      <p:sp>
        <p:nvSpPr>
          <p:cNvPr id="25" name="Text 21"/>
          <p:cNvSpPr/>
          <p:nvPr/>
        </p:nvSpPr>
        <p:spPr>
          <a:xfrm>
            <a:off x="2331720" y="6345936"/>
            <a:ext cx="3840480" cy="228600"/>
          </a:xfrm>
          <a:prstGeom prst="rect">
            <a:avLst/>
          </a:prstGeom>
          <a:noFill/>
          <a:ln/>
        </p:spPr>
        <p:txBody>
          <a:bodyPr wrap="square" lIns="0" tIns="0" rIns="0" bIns="0" rtlCol="0" anchor="ctr"/>
          <a:lstStyle/>
          <a:p>
            <a:pPr indent="0" marL="0">
              <a:buNone/>
            </a:pPr>
            <a:r>
              <a:rPr lang="en-US" sz="850" dirty="0">
                <a:solidFill>
                  <a:srgbClr val="111111"/>
                </a:solidFill>
                <a:latin typeface="Arial" pitchFamily="34" charset="0"/>
                <a:ea typeface="Arial" pitchFamily="34" charset="-122"/>
                <a:cs typeface="Arial" pitchFamily="34" charset="-120"/>
              </a:rPr>
              <a:t>Group 4 · Task 1 Decoding</a:t>
            </a:r>
            <a:endParaRPr lang="en-US" sz="850" dirty="0"/>
          </a:p>
        </p:txBody>
      </p:sp>
      <p:sp>
        <p:nvSpPr>
          <p:cNvPr id="26" name="Text 22"/>
          <p:cNvSpPr/>
          <p:nvPr/>
        </p:nvSpPr>
        <p:spPr>
          <a:xfrm>
            <a:off x="11201400" y="6345936"/>
            <a:ext cx="228600" cy="228600"/>
          </a:xfrm>
          <a:prstGeom prst="rect">
            <a:avLst/>
          </a:prstGeom>
          <a:noFill/>
          <a:ln/>
        </p:spPr>
        <p:txBody>
          <a:bodyPr wrap="square" lIns="0" tIns="0" rIns="0" bIns="0" rtlCol="0" anchor="ctr"/>
          <a:lstStyle/>
          <a:p>
            <a:pPr algn="r" indent="0" marL="0">
              <a:buNone/>
            </a:pPr>
            <a:r>
              <a:rPr lang="en-US" sz="850" dirty="0">
                <a:solidFill>
                  <a:srgbClr val="111111"/>
                </a:solidFill>
                <a:latin typeface="Arial" pitchFamily="34" charset="0"/>
                <a:ea typeface="Arial" pitchFamily="34" charset="-122"/>
                <a:cs typeface="Arial" pitchFamily="34" charset="-120"/>
              </a:rPr>
              <a:t>1</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02920"/>
            <a:ext cx="10012680" cy="502920"/>
          </a:xfrm>
          <a:prstGeom prst="rect">
            <a:avLst/>
          </a:prstGeom>
          <a:noFill/>
          <a:ln/>
        </p:spPr>
        <p:txBody>
          <a:bodyPr wrap="square" lIns="0" tIns="0" rIns="0" bIns="0" rtlCol="0" anchor="ctr">
            <a:normAutofit/>
          </a:bodyPr>
          <a:lstStyle/>
          <a:p>
            <a:pPr indent="0" marL="0">
              <a:buNone/>
            </a:pPr>
            <a:r>
              <a:rPr lang="en-US" sz="2900" b="1" dirty="0">
                <a:solidFill>
                  <a:srgbClr val="111111"/>
                </a:solidFill>
                <a:latin typeface="Arial" pitchFamily="34" charset="0"/>
                <a:ea typeface="Arial" pitchFamily="34" charset="-122"/>
                <a:cs typeface="Arial" pitchFamily="34" charset="-120"/>
              </a:rPr>
              <a:t>Model: response fingerprint classifier</a:t>
            </a:r>
            <a:endParaRPr lang="en-US" sz="2900" dirty="0"/>
          </a:p>
        </p:txBody>
      </p:sp>
      <p:sp>
        <p:nvSpPr>
          <p:cNvPr id="3" name="Text 1"/>
          <p:cNvSpPr/>
          <p:nvPr/>
        </p:nvSpPr>
        <p:spPr>
          <a:xfrm>
            <a:off x="850392" y="1069848"/>
            <a:ext cx="10012680" cy="256032"/>
          </a:xfrm>
          <a:prstGeom prst="rect">
            <a:avLst/>
          </a:prstGeom>
          <a:noFill/>
          <a:ln/>
        </p:spPr>
        <p:txBody>
          <a:bodyPr wrap="square" lIns="0" tIns="0" rIns="0" bIns="0" rtlCol="0" anchor="ctr">
            <a:normAutofit/>
          </a:bodyPr>
          <a:lstStyle/>
          <a:p>
            <a:pPr indent="0" marL="0">
              <a:buNone/>
            </a:pPr>
            <a:r>
              <a:rPr lang="en-US" sz="1200" dirty="0">
                <a:solidFill>
                  <a:srgbClr val="666666"/>
                </a:solidFill>
                <a:latin typeface="Arial" pitchFamily="34" charset="0"/>
                <a:ea typeface="Arial" pitchFamily="34" charset="-122"/>
                <a:cs typeface="Arial" pitchFamily="34" charset="-120"/>
              </a:rPr>
              <a:t>The classifier combines temporal features, electrode topology, attention, and class prototypes.</a:t>
            </a:r>
            <a:endParaRPr lang="en-US" sz="1200" dirty="0"/>
          </a:p>
        </p:txBody>
      </p:sp>
      <p:sp>
        <p:nvSpPr>
          <p:cNvPr id="4" name="Shape 2"/>
          <p:cNvSpPr/>
          <p:nvPr/>
        </p:nvSpPr>
        <p:spPr>
          <a:xfrm>
            <a:off x="822960" y="1417320"/>
            <a:ext cx="10607040" cy="0"/>
          </a:xfrm>
          <a:prstGeom prst="line">
            <a:avLst/>
          </a:prstGeom>
          <a:noFill/>
          <a:ln w="12700">
            <a:solidFill>
              <a:srgbClr val="DDE4EA"/>
            </a:solidFill>
            <a:prstDash val="solid"/>
          </a:ln>
        </p:spPr>
      </p:sp>
      <p:sp>
        <p:nvSpPr>
          <p:cNvPr id="5" name="Text 3"/>
          <p:cNvSpPr/>
          <p:nvPr/>
        </p:nvSpPr>
        <p:spPr>
          <a:xfrm>
            <a:off x="868680" y="1783080"/>
            <a:ext cx="2194560" cy="182880"/>
          </a:xfrm>
          <a:prstGeom prst="rect">
            <a:avLst/>
          </a:prstGeom>
          <a:noFill/>
          <a:ln/>
        </p:spPr>
        <p:txBody>
          <a:bodyPr wrap="square" lIns="0" tIns="0" rIns="0" bIns="0" rtlCol="0" anchor="ctr">
            <a:normAutofit/>
          </a:bodyPr>
          <a:lstStyle/>
          <a:p>
            <a:pPr indent="0" marL="0">
              <a:buNone/>
            </a:pPr>
            <a:r>
              <a:rPr lang="en-US" sz="750" b="1" dirty="0">
                <a:solidFill>
                  <a:srgbClr val="005293"/>
                </a:solidFill>
                <a:latin typeface="Arial" pitchFamily="34" charset="0"/>
                <a:ea typeface="Arial" pitchFamily="34" charset="-122"/>
                <a:cs typeface="Arial" pitchFamily="34" charset="-120"/>
              </a:rPr>
              <a:t>KEY ASSUMPTION</a:t>
            </a:r>
            <a:endParaRPr lang="en-US" sz="750" dirty="0"/>
          </a:p>
        </p:txBody>
      </p:sp>
      <p:sp>
        <p:nvSpPr>
          <p:cNvPr id="6" name="Text 4"/>
          <p:cNvSpPr/>
          <p:nvPr/>
        </p:nvSpPr>
        <p:spPr>
          <a:xfrm>
            <a:off x="868680" y="2029968"/>
            <a:ext cx="4526280" cy="658368"/>
          </a:xfrm>
          <a:prstGeom prst="rect">
            <a:avLst/>
          </a:prstGeom>
          <a:noFill/>
          <a:ln/>
        </p:spPr>
        <p:txBody>
          <a:bodyPr wrap="square" lIns="254" tIns="254" rIns="254" bIns="254" rtlCol="0" anchor="ctr">
            <a:normAutofit/>
          </a:bodyPr>
          <a:lstStyle/>
          <a:p>
            <a:pPr indent="0" marL="0">
              <a:buNone/>
            </a:pPr>
            <a:r>
              <a:rPr lang="en-US" sz="1400" b="1" dirty="0">
                <a:solidFill>
                  <a:srgbClr val="111111"/>
                </a:solidFill>
                <a:latin typeface="Arial" pitchFamily="34" charset="0"/>
                <a:ea typeface="Arial" pitchFamily="34" charset="-122"/>
                <a:cs typeface="Arial" pitchFamily="34" charset="-120"/>
              </a:rPr>
              <a:t>Each stimulation pattern creates a reproducible spatial-temporal response fingerprint within the same recording.</a:t>
            </a:r>
            <a:endParaRPr lang="en-US" sz="1400" dirty="0"/>
          </a:p>
        </p:txBody>
      </p:sp>
      <p:sp>
        <p:nvSpPr>
          <p:cNvPr id="7" name="Shape 5"/>
          <p:cNvSpPr/>
          <p:nvPr/>
        </p:nvSpPr>
        <p:spPr>
          <a:xfrm>
            <a:off x="868680" y="2971800"/>
            <a:ext cx="4526280" cy="1627632"/>
          </a:xfrm>
          <a:prstGeom prst="roundRect">
            <a:avLst>
              <a:gd name="adj" fmla="val 4494"/>
            </a:avLst>
          </a:prstGeom>
          <a:solidFill>
            <a:srgbClr val="F6F9FC"/>
          </a:solidFill>
          <a:ln w="12700">
            <a:solidFill>
              <a:srgbClr val="DDE4EA"/>
            </a:solidFill>
            <a:prstDash val="solid"/>
          </a:ln>
        </p:spPr>
      </p:sp>
      <p:sp>
        <p:nvSpPr>
          <p:cNvPr id="8" name="Text 6"/>
          <p:cNvSpPr/>
          <p:nvPr/>
        </p:nvSpPr>
        <p:spPr>
          <a:xfrm>
            <a:off x="1078992" y="3182112"/>
            <a:ext cx="1828800" cy="182880"/>
          </a:xfrm>
          <a:prstGeom prst="rect">
            <a:avLst/>
          </a:prstGeom>
          <a:noFill/>
          <a:ln/>
        </p:spPr>
        <p:txBody>
          <a:bodyPr wrap="square" lIns="0" tIns="0" rIns="0" bIns="0" rtlCol="0" anchor="ctr">
            <a:normAutofit/>
          </a:bodyPr>
          <a:lstStyle/>
          <a:p>
            <a:pPr indent="0" marL="0">
              <a:buNone/>
            </a:pPr>
            <a:r>
              <a:rPr lang="en-US" sz="750" b="1" dirty="0">
                <a:solidFill>
                  <a:srgbClr val="008575"/>
                </a:solidFill>
                <a:latin typeface="Arial" pitchFamily="34" charset="0"/>
                <a:ea typeface="Arial" pitchFamily="34" charset="-122"/>
                <a:cs typeface="Arial" pitchFamily="34" charset="-120"/>
              </a:rPr>
              <a:t>WHY THIS MODEL</a:t>
            </a:r>
            <a:endParaRPr lang="en-US" sz="750" dirty="0"/>
          </a:p>
        </p:txBody>
      </p:sp>
      <p:sp>
        <p:nvSpPr>
          <p:cNvPr id="9" name="Text 7"/>
          <p:cNvSpPr/>
          <p:nvPr/>
        </p:nvSpPr>
        <p:spPr>
          <a:xfrm>
            <a:off x="1078992" y="3483864"/>
            <a:ext cx="146304" cy="201168"/>
          </a:xfrm>
          <a:prstGeom prst="rect">
            <a:avLst/>
          </a:prstGeom>
          <a:noFill/>
          <a:ln/>
        </p:spPr>
        <p:txBody>
          <a:bodyPr wrap="square" lIns="0" tIns="0" rIns="0" bIns="0" rtlCol="0" anchor="ctr">
            <a:normAutofit/>
          </a:bodyPr>
          <a:lstStyle/>
          <a:p>
            <a:pPr indent="0" marL="0">
              <a:buNone/>
            </a:pPr>
            <a:r>
              <a:rPr lang="en-US" sz="1200" dirty="0">
                <a:solidFill>
                  <a:srgbClr val="005293"/>
                </a:solidFill>
                <a:latin typeface="Arial" pitchFamily="34" charset="0"/>
                <a:ea typeface="Arial" pitchFamily="34" charset="-122"/>
                <a:cs typeface="Arial" pitchFamily="34" charset="-120"/>
              </a:rPr>
              <a:t>•</a:t>
            </a:r>
            <a:endParaRPr lang="en-US" sz="1200" dirty="0"/>
          </a:p>
        </p:txBody>
      </p:sp>
      <p:sp>
        <p:nvSpPr>
          <p:cNvPr id="10" name="Text 8"/>
          <p:cNvSpPr/>
          <p:nvPr/>
        </p:nvSpPr>
        <p:spPr>
          <a:xfrm>
            <a:off x="1280160" y="3493008"/>
            <a:ext cx="3977640" cy="310896"/>
          </a:xfrm>
          <a:prstGeom prst="rect">
            <a:avLst/>
          </a:prstGeom>
          <a:noFill/>
          <a:ln/>
        </p:spPr>
        <p:txBody>
          <a:bodyPr wrap="square" lIns="0" tIns="0" rIns="0" bIns="0" rtlCol="0" anchor="ctr">
            <a:normAutofit/>
          </a:bodyPr>
          <a:lstStyle/>
          <a:p>
            <a:pPr indent="0" marL="0">
              <a:buNone/>
            </a:pPr>
            <a:r>
              <a:rPr lang="en-US" sz="1100" dirty="0">
                <a:solidFill>
                  <a:srgbClr val="111111"/>
                </a:solidFill>
                <a:latin typeface="Arial" pitchFamily="34" charset="0"/>
                <a:ea typeface="Arial" pitchFamily="34" charset="-122"/>
                <a:cs typeface="Arial" pitchFamily="34" charset="-120"/>
              </a:rPr>
              <a:t>uses timing over 80 bins</a:t>
            </a:r>
            <a:endParaRPr lang="en-US" sz="1100" dirty="0"/>
          </a:p>
        </p:txBody>
      </p:sp>
      <p:sp>
        <p:nvSpPr>
          <p:cNvPr id="11" name="Text 9"/>
          <p:cNvSpPr/>
          <p:nvPr/>
        </p:nvSpPr>
        <p:spPr>
          <a:xfrm>
            <a:off x="1078992" y="3849624"/>
            <a:ext cx="146304" cy="201168"/>
          </a:xfrm>
          <a:prstGeom prst="rect">
            <a:avLst/>
          </a:prstGeom>
          <a:noFill/>
          <a:ln/>
        </p:spPr>
        <p:txBody>
          <a:bodyPr wrap="square" lIns="0" tIns="0" rIns="0" bIns="0" rtlCol="0" anchor="ctr">
            <a:normAutofit/>
          </a:bodyPr>
          <a:lstStyle/>
          <a:p>
            <a:pPr indent="0" marL="0">
              <a:buNone/>
            </a:pPr>
            <a:r>
              <a:rPr lang="en-US" sz="1200" dirty="0">
                <a:solidFill>
                  <a:srgbClr val="005293"/>
                </a:solidFill>
                <a:latin typeface="Arial" pitchFamily="34" charset="0"/>
                <a:ea typeface="Arial" pitchFamily="34" charset="-122"/>
                <a:cs typeface="Arial" pitchFamily="34" charset="-120"/>
              </a:rPr>
              <a:t>•</a:t>
            </a:r>
            <a:endParaRPr lang="en-US" sz="1200" dirty="0"/>
          </a:p>
        </p:txBody>
      </p:sp>
      <p:sp>
        <p:nvSpPr>
          <p:cNvPr id="12" name="Text 10"/>
          <p:cNvSpPr/>
          <p:nvPr/>
        </p:nvSpPr>
        <p:spPr>
          <a:xfrm>
            <a:off x="1280160" y="3858768"/>
            <a:ext cx="3977640" cy="310896"/>
          </a:xfrm>
          <a:prstGeom prst="rect">
            <a:avLst/>
          </a:prstGeom>
          <a:noFill/>
          <a:ln/>
        </p:spPr>
        <p:txBody>
          <a:bodyPr wrap="square" lIns="0" tIns="0" rIns="0" bIns="0" rtlCol="0" anchor="ctr">
            <a:normAutofit/>
          </a:bodyPr>
          <a:lstStyle/>
          <a:p>
            <a:pPr indent="0" marL="0">
              <a:buNone/>
            </a:pPr>
            <a:r>
              <a:rPr lang="en-US" sz="1100" dirty="0">
                <a:solidFill>
                  <a:srgbClr val="111111"/>
                </a:solidFill>
                <a:latin typeface="Arial" pitchFamily="34" charset="0"/>
                <a:ea typeface="Arial" pitchFamily="34" charset="-122"/>
                <a:cs typeface="Arial" pitchFamily="34" charset="-120"/>
              </a:rPr>
              <a:t>shares information across nearby electrodes</a:t>
            </a:r>
            <a:endParaRPr lang="en-US" sz="1100" dirty="0"/>
          </a:p>
        </p:txBody>
      </p:sp>
      <p:sp>
        <p:nvSpPr>
          <p:cNvPr id="13" name="Text 11"/>
          <p:cNvSpPr/>
          <p:nvPr/>
        </p:nvSpPr>
        <p:spPr>
          <a:xfrm>
            <a:off x="1078992" y="4215384"/>
            <a:ext cx="146304" cy="201168"/>
          </a:xfrm>
          <a:prstGeom prst="rect">
            <a:avLst/>
          </a:prstGeom>
          <a:noFill/>
          <a:ln/>
        </p:spPr>
        <p:txBody>
          <a:bodyPr wrap="square" lIns="0" tIns="0" rIns="0" bIns="0" rtlCol="0" anchor="ctr">
            <a:normAutofit/>
          </a:bodyPr>
          <a:lstStyle/>
          <a:p>
            <a:pPr indent="0" marL="0">
              <a:buNone/>
            </a:pPr>
            <a:r>
              <a:rPr lang="en-US" sz="1200" dirty="0">
                <a:solidFill>
                  <a:srgbClr val="005293"/>
                </a:solidFill>
                <a:latin typeface="Arial" pitchFamily="34" charset="0"/>
                <a:ea typeface="Arial" pitchFamily="34" charset="-122"/>
                <a:cs typeface="Arial" pitchFamily="34" charset="-120"/>
              </a:rPr>
              <a:t>•</a:t>
            </a:r>
            <a:endParaRPr lang="en-US" sz="1200" dirty="0"/>
          </a:p>
        </p:txBody>
      </p:sp>
      <p:sp>
        <p:nvSpPr>
          <p:cNvPr id="14" name="Text 12"/>
          <p:cNvSpPr/>
          <p:nvPr/>
        </p:nvSpPr>
        <p:spPr>
          <a:xfrm>
            <a:off x="1280160" y="4224528"/>
            <a:ext cx="3977640" cy="310896"/>
          </a:xfrm>
          <a:prstGeom prst="rect">
            <a:avLst/>
          </a:prstGeom>
          <a:noFill/>
          <a:ln/>
        </p:spPr>
        <p:txBody>
          <a:bodyPr wrap="square" lIns="0" tIns="0" rIns="0" bIns="0" rtlCol="0" anchor="ctr">
            <a:normAutofit/>
          </a:bodyPr>
          <a:lstStyle/>
          <a:p>
            <a:pPr indent="0" marL="0">
              <a:buNone/>
            </a:pPr>
            <a:r>
              <a:rPr lang="en-US" sz="1100" dirty="0">
                <a:solidFill>
                  <a:srgbClr val="111111"/>
                </a:solidFill>
                <a:latin typeface="Arial" pitchFamily="34" charset="0"/>
                <a:ea typeface="Arial" pitchFamily="34" charset="-122"/>
                <a:cs typeface="Arial" pitchFamily="34" charset="-120"/>
              </a:rPr>
              <a:t>compares trials to class-specific training prototypes</a:t>
            </a:r>
            <a:endParaRPr lang="en-US" sz="1100" dirty="0"/>
          </a:p>
        </p:txBody>
      </p:sp>
      <p:sp>
        <p:nvSpPr>
          <p:cNvPr id="15" name="Shape 13"/>
          <p:cNvSpPr/>
          <p:nvPr/>
        </p:nvSpPr>
        <p:spPr>
          <a:xfrm>
            <a:off x="5715000" y="1847088"/>
            <a:ext cx="1170432" cy="1051560"/>
          </a:xfrm>
          <a:prstGeom prst="roundRect">
            <a:avLst>
              <a:gd name="adj" fmla="val 6957"/>
            </a:avLst>
          </a:prstGeom>
          <a:solidFill>
            <a:srgbClr val="FFFFFF"/>
          </a:solidFill>
          <a:ln w="12700">
            <a:solidFill>
              <a:srgbClr val="DDE4EA"/>
            </a:solidFill>
            <a:prstDash val="solid"/>
          </a:ln>
        </p:spPr>
      </p:sp>
      <p:sp>
        <p:nvSpPr>
          <p:cNvPr id="16" name="Text 14"/>
          <p:cNvSpPr/>
          <p:nvPr/>
        </p:nvSpPr>
        <p:spPr>
          <a:xfrm>
            <a:off x="5824728" y="2048256"/>
            <a:ext cx="950976" cy="402336"/>
          </a:xfrm>
          <a:prstGeom prst="rect">
            <a:avLst/>
          </a:prstGeom>
          <a:noFill/>
          <a:ln/>
        </p:spPr>
        <p:txBody>
          <a:bodyPr wrap="square" lIns="0" tIns="0" rIns="0" bIns="0" rtlCol="0" anchor="ctr">
            <a:normAutofit/>
          </a:bodyPr>
          <a:lstStyle/>
          <a:p>
            <a:pPr indent="0" marL="0">
              <a:buNone/>
            </a:pPr>
            <a:r>
              <a:rPr lang="en-US" sz="1050" b="1" dirty="0">
                <a:solidFill>
                  <a:srgbClr val="111111"/>
                </a:solidFill>
                <a:latin typeface="Arial" pitchFamily="34" charset="0"/>
                <a:ea typeface="Arial" pitchFamily="34" charset="-122"/>
                <a:cs typeface="Arial" pitchFamily="34" charset="-120"/>
              </a:rPr>
              <a:t>Temporal</a:t>
            </a:r>
            <a:endParaRPr lang="en-US" sz="1050" dirty="0"/>
          </a:p>
          <a:p>
            <a:pPr indent="0" marL="0">
              <a:buNone/>
            </a:pPr>
            <a:r>
              <a:rPr lang="en-US" sz="1050" b="1" dirty="0">
                <a:solidFill>
                  <a:srgbClr val="111111"/>
                </a:solidFill>
                <a:latin typeface="Arial" pitchFamily="34" charset="0"/>
                <a:ea typeface="Arial" pitchFamily="34" charset="-122"/>
                <a:cs typeface="Arial" pitchFamily="34" charset="-120"/>
              </a:rPr>
              <a:t>CNN</a:t>
            </a:r>
            <a:endParaRPr lang="en-US" sz="1050" dirty="0"/>
          </a:p>
        </p:txBody>
      </p:sp>
      <p:sp>
        <p:nvSpPr>
          <p:cNvPr id="17" name="Text 15"/>
          <p:cNvSpPr/>
          <p:nvPr/>
        </p:nvSpPr>
        <p:spPr>
          <a:xfrm>
            <a:off x="5824728" y="2542032"/>
            <a:ext cx="950976" cy="164592"/>
          </a:xfrm>
          <a:prstGeom prst="rect">
            <a:avLst/>
          </a:prstGeom>
          <a:noFill/>
          <a:ln/>
        </p:spPr>
        <p:txBody>
          <a:bodyPr wrap="square" lIns="0" tIns="0" rIns="0" bIns="0" rtlCol="0" anchor="ctr">
            <a:normAutofit/>
          </a:bodyPr>
          <a:lstStyle/>
          <a:p>
            <a:pPr indent="0" marL="0">
              <a:buNone/>
            </a:pPr>
            <a:r>
              <a:rPr lang="en-US" sz="780" dirty="0">
                <a:solidFill>
                  <a:srgbClr val="666666"/>
                </a:solidFill>
                <a:latin typeface="Arial" pitchFamily="34" charset="0"/>
                <a:ea typeface="Arial" pitchFamily="34" charset="-122"/>
                <a:cs typeface="Arial" pitchFamily="34" charset="-120"/>
              </a:rPr>
              <a:t>when?</a:t>
            </a:r>
            <a:endParaRPr lang="en-US" sz="780" dirty="0"/>
          </a:p>
        </p:txBody>
      </p:sp>
      <p:sp>
        <p:nvSpPr>
          <p:cNvPr id="18" name="Shape 16"/>
          <p:cNvSpPr/>
          <p:nvPr/>
        </p:nvSpPr>
        <p:spPr>
          <a:xfrm>
            <a:off x="6995160" y="2368296"/>
            <a:ext cx="310896" cy="0"/>
          </a:xfrm>
          <a:prstGeom prst="line">
            <a:avLst/>
          </a:prstGeom>
          <a:noFill/>
          <a:ln w="20320">
            <a:solidFill>
              <a:srgbClr val="777777"/>
            </a:solidFill>
            <a:prstDash val="solid"/>
            <a:headEnd type="none"/>
            <a:tailEnd type="triangle"/>
          </a:ln>
        </p:spPr>
      </p:sp>
      <p:sp>
        <p:nvSpPr>
          <p:cNvPr id="19" name="Shape 17"/>
          <p:cNvSpPr/>
          <p:nvPr/>
        </p:nvSpPr>
        <p:spPr>
          <a:xfrm>
            <a:off x="7205472" y="1847088"/>
            <a:ext cx="1170432" cy="1051560"/>
          </a:xfrm>
          <a:prstGeom prst="roundRect">
            <a:avLst>
              <a:gd name="adj" fmla="val 6957"/>
            </a:avLst>
          </a:prstGeom>
          <a:solidFill>
            <a:srgbClr val="FFFFFF"/>
          </a:solidFill>
          <a:ln w="12700">
            <a:solidFill>
              <a:srgbClr val="DDE4EA"/>
            </a:solidFill>
            <a:prstDash val="solid"/>
          </a:ln>
        </p:spPr>
      </p:sp>
      <p:sp>
        <p:nvSpPr>
          <p:cNvPr id="20" name="Text 18"/>
          <p:cNvSpPr/>
          <p:nvPr/>
        </p:nvSpPr>
        <p:spPr>
          <a:xfrm>
            <a:off x="7315200" y="2048256"/>
            <a:ext cx="950976" cy="402336"/>
          </a:xfrm>
          <a:prstGeom prst="rect">
            <a:avLst/>
          </a:prstGeom>
          <a:noFill/>
          <a:ln/>
        </p:spPr>
        <p:txBody>
          <a:bodyPr wrap="square" lIns="0" tIns="0" rIns="0" bIns="0" rtlCol="0" anchor="ctr">
            <a:normAutofit/>
          </a:bodyPr>
          <a:lstStyle/>
          <a:p>
            <a:pPr indent="0" marL="0">
              <a:buNone/>
            </a:pPr>
            <a:r>
              <a:rPr lang="en-US" sz="1050" b="1" dirty="0">
                <a:solidFill>
                  <a:srgbClr val="111111"/>
                </a:solidFill>
                <a:latin typeface="Arial" pitchFamily="34" charset="0"/>
                <a:ea typeface="Arial" pitchFamily="34" charset="-122"/>
                <a:cs typeface="Arial" pitchFamily="34" charset="-120"/>
              </a:rPr>
              <a:t>Electrode</a:t>
            </a:r>
            <a:endParaRPr lang="en-US" sz="1050" dirty="0"/>
          </a:p>
          <a:p>
            <a:pPr indent="0" marL="0">
              <a:buNone/>
            </a:pPr>
            <a:r>
              <a:rPr lang="en-US" sz="1050" b="1" dirty="0">
                <a:solidFill>
                  <a:srgbClr val="111111"/>
                </a:solidFill>
                <a:latin typeface="Arial" pitchFamily="34" charset="0"/>
                <a:ea typeface="Arial" pitchFamily="34" charset="-122"/>
                <a:cs typeface="Arial" pitchFamily="34" charset="-120"/>
              </a:rPr>
              <a:t>topology</a:t>
            </a:r>
            <a:endParaRPr lang="en-US" sz="1050" dirty="0"/>
          </a:p>
        </p:txBody>
      </p:sp>
      <p:sp>
        <p:nvSpPr>
          <p:cNvPr id="21" name="Text 19"/>
          <p:cNvSpPr/>
          <p:nvPr/>
        </p:nvSpPr>
        <p:spPr>
          <a:xfrm>
            <a:off x="7315200" y="2542032"/>
            <a:ext cx="950976" cy="164592"/>
          </a:xfrm>
          <a:prstGeom prst="rect">
            <a:avLst/>
          </a:prstGeom>
          <a:noFill/>
          <a:ln/>
        </p:spPr>
        <p:txBody>
          <a:bodyPr wrap="square" lIns="0" tIns="0" rIns="0" bIns="0" rtlCol="0" anchor="ctr">
            <a:normAutofit/>
          </a:bodyPr>
          <a:lstStyle/>
          <a:p>
            <a:pPr indent="0" marL="0">
              <a:buNone/>
            </a:pPr>
            <a:r>
              <a:rPr lang="en-US" sz="780" dirty="0">
                <a:solidFill>
                  <a:srgbClr val="666666"/>
                </a:solidFill>
                <a:latin typeface="Arial" pitchFamily="34" charset="0"/>
                <a:ea typeface="Arial" pitchFamily="34" charset="-122"/>
                <a:cs typeface="Arial" pitchFamily="34" charset="-120"/>
              </a:rPr>
              <a:t>where?</a:t>
            </a:r>
            <a:endParaRPr lang="en-US" sz="780" dirty="0"/>
          </a:p>
        </p:txBody>
      </p:sp>
      <p:sp>
        <p:nvSpPr>
          <p:cNvPr id="22" name="Shape 20"/>
          <p:cNvSpPr/>
          <p:nvPr/>
        </p:nvSpPr>
        <p:spPr>
          <a:xfrm>
            <a:off x="8485632" y="2368296"/>
            <a:ext cx="310896" cy="0"/>
          </a:xfrm>
          <a:prstGeom prst="line">
            <a:avLst/>
          </a:prstGeom>
          <a:noFill/>
          <a:ln w="20320">
            <a:solidFill>
              <a:srgbClr val="777777"/>
            </a:solidFill>
            <a:prstDash val="solid"/>
            <a:headEnd type="none"/>
            <a:tailEnd type="triangle"/>
          </a:ln>
        </p:spPr>
      </p:sp>
      <p:sp>
        <p:nvSpPr>
          <p:cNvPr id="23" name="Shape 21"/>
          <p:cNvSpPr/>
          <p:nvPr/>
        </p:nvSpPr>
        <p:spPr>
          <a:xfrm>
            <a:off x="8705088" y="1847088"/>
            <a:ext cx="1170432" cy="1051560"/>
          </a:xfrm>
          <a:prstGeom prst="roundRect">
            <a:avLst>
              <a:gd name="adj" fmla="val 6957"/>
            </a:avLst>
          </a:prstGeom>
          <a:solidFill>
            <a:srgbClr val="FFFFFF"/>
          </a:solidFill>
          <a:ln w="12700">
            <a:solidFill>
              <a:srgbClr val="DDE4EA"/>
            </a:solidFill>
            <a:prstDash val="solid"/>
          </a:ln>
        </p:spPr>
      </p:sp>
      <p:sp>
        <p:nvSpPr>
          <p:cNvPr id="24" name="Text 22"/>
          <p:cNvSpPr/>
          <p:nvPr/>
        </p:nvSpPr>
        <p:spPr>
          <a:xfrm>
            <a:off x="8814816" y="2048256"/>
            <a:ext cx="950976" cy="402336"/>
          </a:xfrm>
          <a:prstGeom prst="rect">
            <a:avLst/>
          </a:prstGeom>
          <a:noFill/>
          <a:ln/>
        </p:spPr>
        <p:txBody>
          <a:bodyPr wrap="square" lIns="0" tIns="0" rIns="0" bIns="0" rtlCol="0" anchor="ctr">
            <a:normAutofit/>
          </a:bodyPr>
          <a:lstStyle/>
          <a:p>
            <a:pPr indent="0" marL="0">
              <a:buNone/>
            </a:pPr>
            <a:r>
              <a:rPr lang="en-US" sz="1050" b="1" dirty="0">
                <a:solidFill>
                  <a:srgbClr val="111111"/>
                </a:solidFill>
                <a:latin typeface="Arial" pitchFamily="34" charset="0"/>
                <a:ea typeface="Arial" pitchFamily="34" charset="-122"/>
                <a:cs typeface="Arial" pitchFamily="34" charset="-120"/>
              </a:rPr>
              <a:t>Class</a:t>
            </a:r>
            <a:endParaRPr lang="en-US" sz="1050" dirty="0"/>
          </a:p>
          <a:p>
            <a:pPr indent="0" marL="0">
              <a:buNone/>
            </a:pPr>
            <a:r>
              <a:rPr lang="en-US" sz="1050" b="1" dirty="0">
                <a:solidFill>
                  <a:srgbClr val="111111"/>
                </a:solidFill>
                <a:latin typeface="Arial" pitchFamily="34" charset="0"/>
                <a:ea typeface="Arial" pitchFamily="34" charset="-122"/>
                <a:cs typeface="Arial" pitchFamily="34" charset="-120"/>
              </a:rPr>
              <a:t>attention</a:t>
            </a:r>
            <a:endParaRPr lang="en-US" sz="1050" dirty="0"/>
          </a:p>
        </p:txBody>
      </p:sp>
      <p:sp>
        <p:nvSpPr>
          <p:cNvPr id="25" name="Text 23"/>
          <p:cNvSpPr/>
          <p:nvPr/>
        </p:nvSpPr>
        <p:spPr>
          <a:xfrm>
            <a:off x="8814816" y="2542032"/>
            <a:ext cx="950976" cy="164592"/>
          </a:xfrm>
          <a:prstGeom prst="rect">
            <a:avLst/>
          </a:prstGeom>
          <a:noFill/>
          <a:ln/>
        </p:spPr>
        <p:txBody>
          <a:bodyPr wrap="square" lIns="0" tIns="0" rIns="0" bIns="0" rtlCol="0" anchor="ctr">
            <a:normAutofit/>
          </a:bodyPr>
          <a:lstStyle/>
          <a:p>
            <a:pPr indent="0" marL="0">
              <a:buNone/>
            </a:pPr>
            <a:r>
              <a:rPr lang="en-US" sz="780" dirty="0">
                <a:solidFill>
                  <a:srgbClr val="666666"/>
                </a:solidFill>
                <a:latin typeface="Arial" pitchFamily="34" charset="0"/>
                <a:ea typeface="Arial" pitchFamily="34" charset="-122"/>
                <a:cs typeface="Arial" pitchFamily="34" charset="-120"/>
              </a:rPr>
              <a:t>what matters?</a:t>
            </a:r>
            <a:endParaRPr lang="en-US" sz="780" dirty="0"/>
          </a:p>
        </p:txBody>
      </p:sp>
      <p:sp>
        <p:nvSpPr>
          <p:cNvPr id="26" name="Shape 24"/>
          <p:cNvSpPr/>
          <p:nvPr/>
        </p:nvSpPr>
        <p:spPr>
          <a:xfrm>
            <a:off x="9985248" y="2368296"/>
            <a:ext cx="310896" cy="0"/>
          </a:xfrm>
          <a:prstGeom prst="line">
            <a:avLst/>
          </a:prstGeom>
          <a:noFill/>
          <a:ln w="20320">
            <a:solidFill>
              <a:srgbClr val="777777"/>
            </a:solidFill>
            <a:prstDash val="solid"/>
            <a:headEnd type="none"/>
            <a:tailEnd type="triangle"/>
          </a:ln>
        </p:spPr>
      </p:sp>
      <p:sp>
        <p:nvSpPr>
          <p:cNvPr id="27" name="Shape 25"/>
          <p:cNvSpPr/>
          <p:nvPr/>
        </p:nvSpPr>
        <p:spPr>
          <a:xfrm>
            <a:off x="10195560" y="1847088"/>
            <a:ext cx="1170432" cy="1051560"/>
          </a:xfrm>
          <a:prstGeom prst="roundRect">
            <a:avLst>
              <a:gd name="adj" fmla="val 6957"/>
            </a:avLst>
          </a:prstGeom>
          <a:solidFill>
            <a:srgbClr val="ECF8F6"/>
          </a:solidFill>
          <a:ln w="12700">
            <a:solidFill>
              <a:srgbClr val="008575"/>
            </a:solidFill>
            <a:prstDash val="solid"/>
          </a:ln>
        </p:spPr>
      </p:sp>
      <p:sp>
        <p:nvSpPr>
          <p:cNvPr id="28" name="Text 26"/>
          <p:cNvSpPr/>
          <p:nvPr/>
        </p:nvSpPr>
        <p:spPr>
          <a:xfrm>
            <a:off x="10305288" y="2048256"/>
            <a:ext cx="950976" cy="402336"/>
          </a:xfrm>
          <a:prstGeom prst="rect">
            <a:avLst/>
          </a:prstGeom>
          <a:noFill/>
          <a:ln/>
        </p:spPr>
        <p:txBody>
          <a:bodyPr wrap="square" lIns="0" tIns="0" rIns="0" bIns="0" rtlCol="0" anchor="ctr">
            <a:normAutofit/>
          </a:bodyPr>
          <a:lstStyle/>
          <a:p>
            <a:pPr indent="0" marL="0">
              <a:buNone/>
            </a:pPr>
            <a:r>
              <a:rPr lang="en-US" sz="1050" b="1" dirty="0">
                <a:solidFill>
                  <a:srgbClr val="111111"/>
                </a:solidFill>
                <a:latin typeface="Arial" pitchFamily="34" charset="0"/>
                <a:ea typeface="Arial" pitchFamily="34" charset="-122"/>
                <a:cs typeface="Arial" pitchFamily="34" charset="-120"/>
              </a:rPr>
              <a:t>Class</a:t>
            </a:r>
            <a:endParaRPr lang="en-US" sz="1050" dirty="0"/>
          </a:p>
          <a:p>
            <a:pPr indent="0" marL="0">
              <a:buNone/>
            </a:pPr>
            <a:r>
              <a:rPr lang="en-US" sz="1050" b="1" dirty="0">
                <a:solidFill>
                  <a:srgbClr val="111111"/>
                </a:solidFill>
                <a:latin typeface="Arial" pitchFamily="34" charset="0"/>
                <a:ea typeface="Arial" pitchFamily="34" charset="-122"/>
                <a:cs typeface="Arial" pitchFamily="34" charset="-120"/>
              </a:rPr>
              <a:t>prototypes</a:t>
            </a:r>
            <a:endParaRPr lang="en-US" sz="1050" dirty="0"/>
          </a:p>
        </p:txBody>
      </p:sp>
      <p:sp>
        <p:nvSpPr>
          <p:cNvPr id="29" name="Text 27"/>
          <p:cNvSpPr/>
          <p:nvPr/>
        </p:nvSpPr>
        <p:spPr>
          <a:xfrm>
            <a:off x="10305288" y="2542032"/>
            <a:ext cx="950976" cy="164592"/>
          </a:xfrm>
          <a:prstGeom prst="rect">
            <a:avLst/>
          </a:prstGeom>
          <a:noFill/>
          <a:ln/>
        </p:spPr>
        <p:txBody>
          <a:bodyPr wrap="square" lIns="0" tIns="0" rIns="0" bIns="0" rtlCol="0" anchor="ctr">
            <a:normAutofit/>
          </a:bodyPr>
          <a:lstStyle/>
          <a:p>
            <a:pPr indent="0" marL="0">
              <a:buNone/>
            </a:pPr>
            <a:r>
              <a:rPr lang="en-US" sz="780" dirty="0">
                <a:solidFill>
                  <a:srgbClr val="666666"/>
                </a:solidFill>
                <a:latin typeface="Arial" pitchFamily="34" charset="0"/>
                <a:ea typeface="Arial" pitchFamily="34" charset="-122"/>
                <a:cs typeface="Arial" pitchFamily="34" charset="-120"/>
              </a:rPr>
              <a:t>which fingerprint?</a:t>
            </a:r>
            <a:endParaRPr lang="en-US" sz="780" dirty="0"/>
          </a:p>
        </p:txBody>
      </p:sp>
      <p:sp>
        <p:nvSpPr>
          <p:cNvPr id="30" name="Shape 28"/>
          <p:cNvSpPr/>
          <p:nvPr/>
        </p:nvSpPr>
        <p:spPr>
          <a:xfrm>
            <a:off x="5715000" y="3246120"/>
            <a:ext cx="5440680" cy="0"/>
          </a:xfrm>
          <a:prstGeom prst="line">
            <a:avLst/>
          </a:prstGeom>
          <a:noFill/>
          <a:ln w="12700">
            <a:solidFill>
              <a:srgbClr val="DDE4EA"/>
            </a:solidFill>
            <a:prstDash val="solid"/>
          </a:ln>
        </p:spPr>
      </p:sp>
      <p:sp>
        <p:nvSpPr>
          <p:cNvPr id="31" name="Text 29"/>
          <p:cNvSpPr/>
          <p:nvPr/>
        </p:nvSpPr>
        <p:spPr>
          <a:xfrm>
            <a:off x="5715000" y="3547872"/>
            <a:ext cx="1828800" cy="182880"/>
          </a:xfrm>
          <a:prstGeom prst="rect">
            <a:avLst/>
          </a:prstGeom>
          <a:noFill/>
          <a:ln/>
        </p:spPr>
        <p:txBody>
          <a:bodyPr wrap="square" lIns="0" tIns="0" rIns="0" bIns="0" rtlCol="0" anchor="ctr">
            <a:normAutofit/>
          </a:bodyPr>
          <a:lstStyle/>
          <a:p>
            <a:pPr indent="0" marL="0">
              <a:buNone/>
            </a:pPr>
            <a:r>
              <a:rPr lang="en-US" sz="750" b="1" dirty="0">
                <a:solidFill>
                  <a:srgbClr val="008575"/>
                </a:solidFill>
                <a:latin typeface="Arial" pitchFamily="34" charset="0"/>
                <a:ea typeface="Arial" pitchFamily="34" charset="-122"/>
                <a:cs typeface="Arial" pitchFamily="34" charset="-120"/>
              </a:rPr>
              <a:t>MODEL OUTPUT</a:t>
            </a:r>
            <a:endParaRPr lang="en-US" sz="750" dirty="0"/>
          </a:p>
        </p:txBody>
      </p:sp>
      <p:sp>
        <p:nvSpPr>
          <p:cNvPr id="32" name="Text 30"/>
          <p:cNvSpPr/>
          <p:nvPr/>
        </p:nvSpPr>
        <p:spPr>
          <a:xfrm>
            <a:off x="5715000" y="3858768"/>
            <a:ext cx="5394960" cy="384048"/>
          </a:xfrm>
          <a:prstGeom prst="rect">
            <a:avLst/>
          </a:prstGeom>
          <a:noFill/>
          <a:ln/>
        </p:spPr>
        <p:txBody>
          <a:bodyPr wrap="square" lIns="0" tIns="0" rIns="0" bIns="0" rtlCol="0" anchor="ctr">
            <a:normAutofit/>
          </a:bodyPr>
          <a:lstStyle/>
          <a:p>
            <a:pPr indent="0" marL="0">
              <a:buNone/>
            </a:pPr>
            <a:r>
              <a:rPr lang="en-US" sz="1600" b="1" dirty="0">
                <a:solidFill>
                  <a:srgbClr val="111111"/>
                </a:solidFill>
                <a:latin typeface="Arial" pitchFamily="34" charset="0"/>
                <a:ea typeface="Arial" pitchFamily="34" charset="-122"/>
                <a:cs typeface="Arial" pitchFamily="34" charset="-120"/>
              </a:rPr>
              <a:t>16 logits → softmax → predicted stimulation pattern</a:t>
            </a:r>
            <a:endParaRPr lang="en-US" sz="1600" dirty="0"/>
          </a:p>
        </p:txBody>
      </p:sp>
      <p:sp>
        <p:nvSpPr>
          <p:cNvPr id="33" name="Text 31"/>
          <p:cNvSpPr/>
          <p:nvPr/>
        </p:nvSpPr>
        <p:spPr>
          <a:xfrm>
            <a:off x="5715000" y="4407408"/>
            <a:ext cx="5394960" cy="384048"/>
          </a:xfrm>
          <a:prstGeom prst="rect">
            <a:avLst/>
          </a:prstGeom>
          <a:noFill/>
          <a:ln/>
        </p:spPr>
        <p:txBody>
          <a:bodyPr wrap="square" lIns="0" tIns="0" rIns="0" bIns="0" rtlCol="0" anchor="ctr">
            <a:normAutofit/>
          </a:bodyPr>
          <a:lstStyle/>
          <a:p>
            <a:pPr indent="0" marL="0">
              <a:buNone/>
            </a:pPr>
            <a:r>
              <a:rPr lang="en-US" sz="1050" dirty="0">
                <a:solidFill>
                  <a:srgbClr val="666666"/>
                </a:solidFill>
                <a:latin typeface="Arial" pitchFamily="34" charset="0"/>
                <a:ea typeface="Arial" pitchFamily="34" charset="-122"/>
                <a:cs typeface="Arial" pitchFamily="34" charset="-120"/>
              </a:rPr>
              <a:t>Frequency features were disabled in the final Task 1 model; classification mainly uses the neural response itself.</a:t>
            </a:r>
            <a:endParaRPr lang="en-US" sz="1050" dirty="0"/>
          </a:p>
        </p:txBody>
      </p:sp>
      <p:pic>
        <p:nvPicPr>
          <p:cNvPr id="34" name="Image 0" descr="/Users/adrian/Desktop/P&amp;S/outputs/presentation_assets/eth_image1.png">    </p:cNvPr>
          <p:cNvPicPr>
            <a:picLocks noChangeAspect="1"/>
          </p:cNvPicPr>
          <p:nvPr/>
        </p:nvPicPr>
        <p:blipFill>
          <a:blip r:embed="rId1"/>
          <a:stretch>
            <a:fillRect/>
          </a:stretch>
        </p:blipFill>
        <p:spPr>
          <a:xfrm>
            <a:off x="566928" y="6355080"/>
            <a:ext cx="1143000" cy="187452"/>
          </a:xfrm>
          <a:prstGeom prst="rect">
            <a:avLst/>
          </a:prstGeom>
        </p:spPr>
      </p:pic>
      <p:sp>
        <p:nvSpPr>
          <p:cNvPr id="35" name="Text 32"/>
          <p:cNvSpPr/>
          <p:nvPr/>
        </p:nvSpPr>
        <p:spPr>
          <a:xfrm>
            <a:off x="2331720" y="6345936"/>
            <a:ext cx="3840480" cy="228600"/>
          </a:xfrm>
          <a:prstGeom prst="rect">
            <a:avLst/>
          </a:prstGeom>
          <a:noFill/>
          <a:ln/>
        </p:spPr>
        <p:txBody>
          <a:bodyPr wrap="square" lIns="0" tIns="0" rIns="0" bIns="0" rtlCol="0" anchor="ctr"/>
          <a:lstStyle/>
          <a:p>
            <a:pPr indent="0" marL="0">
              <a:buNone/>
            </a:pPr>
            <a:r>
              <a:rPr lang="en-US" sz="850" dirty="0">
                <a:solidFill>
                  <a:srgbClr val="111111"/>
                </a:solidFill>
                <a:latin typeface="Arial" pitchFamily="34" charset="0"/>
                <a:ea typeface="Arial" pitchFamily="34" charset="-122"/>
                <a:cs typeface="Arial" pitchFamily="34" charset="-120"/>
              </a:rPr>
              <a:t>Group 4 · Task 1 Decoding</a:t>
            </a:r>
            <a:endParaRPr lang="en-US" sz="850" dirty="0"/>
          </a:p>
        </p:txBody>
      </p:sp>
      <p:sp>
        <p:nvSpPr>
          <p:cNvPr id="36" name="Text 33"/>
          <p:cNvSpPr/>
          <p:nvPr/>
        </p:nvSpPr>
        <p:spPr>
          <a:xfrm>
            <a:off x="11201400" y="6345936"/>
            <a:ext cx="228600" cy="228600"/>
          </a:xfrm>
          <a:prstGeom prst="rect">
            <a:avLst/>
          </a:prstGeom>
          <a:noFill/>
          <a:ln/>
        </p:spPr>
        <p:txBody>
          <a:bodyPr wrap="square" lIns="0" tIns="0" rIns="0" bIns="0" rtlCol="0" anchor="ctr"/>
          <a:lstStyle/>
          <a:p>
            <a:pPr algn="r" indent="0" marL="0">
              <a:buNone/>
            </a:pPr>
            <a:r>
              <a:rPr lang="en-US" sz="850" dirty="0">
                <a:solidFill>
                  <a:srgbClr val="111111"/>
                </a:solidFill>
                <a:latin typeface="Arial" pitchFamily="34" charset="0"/>
                <a:ea typeface="Arial" pitchFamily="34" charset="-122"/>
                <a:cs typeface="Arial" pitchFamily="34" charset="-120"/>
              </a:rPr>
              <a:t>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02920"/>
            <a:ext cx="10012680" cy="502920"/>
          </a:xfrm>
          <a:prstGeom prst="rect">
            <a:avLst/>
          </a:prstGeom>
          <a:noFill/>
          <a:ln/>
        </p:spPr>
        <p:txBody>
          <a:bodyPr wrap="square" lIns="0" tIns="0" rIns="0" bIns="0" rtlCol="0" anchor="ctr">
            <a:normAutofit/>
          </a:bodyPr>
          <a:lstStyle/>
          <a:p>
            <a:pPr indent="0" marL="0">
              <a:buNone/>
            </a:pPr>
            <a:r>
              <a:rPr lang="en-US" sz="2900" b="1" dirty="0">
                <a:solidFill>
                  <a:srgbClr val="111111"/>
                </a:solidFill>
                <a:latin typeface="Arial" pitchFamily="34" charset="0"/>
                <a:ea typeface="Arial" pitchFamily="34" charset="-122"/>
                <a:cs typeface="Arial" pitchFamily="34" charset="-120"/>
              </a:rPr>
              <a:t>Training: validation-based model selection</a:t>
            </a:r>
            <a:endParaRPr lang="en-US" sz="2900" dirty="0"/>
          </a:p>
        </p:txBody>
      </p:sp>
      <p:sp>
        <p:nvSpPr>
          <p:cNvPr id="3" name="Text 1"/>
          <p:cNvSpPr/>
          <p:nvPr/>
        </p:nvSpPr>
        <p:spPr>
          <a:xfrm>
            <a:off x="850392" y="1069848"/>
            <a:ext cx="10012680" cy="256032"/>
          </a:xfrm>
          <a:prstGeom prst="rect">
            <a:avLst/>
          </a:prstGeom>
          <a:noFill/>
          <a:ln/>
        </p:spPr>
        <p:txBody>
          <a:bodyPr wrap="square" lIns="0" tIns="0" rIns="0" bIns="0" rtlCol="0" anchor="ctr">
            <a:normAutofit/>
          </a:bodyPr>
          <a:lstStyle/>
          <a:p>
            <a:pPr indent="0" marL="0">
              <a:buNone/>
            </a:pPr>
            <a:r>
              <a:rPr lang="en-US" sz="1200" dirty="0">
                <a:solidFill>
                  <a:srgbClr val="666666"/>
                </a:solidFill>
                <a:latin typeface="Arial" pitchFamily="34" charset="0"/>
                <a:ea typeface="Arial" pitchFamily="34" charset="-122"/>
                <a:cs typeface="Arial" pitchFamily="34" charset="-120"/>
              </a:rPr>
              <a:t>Preprocessing and prototypes are computed from training data only.</a:t>
            </a:r>
            <a:endParaRPr lang="en-US" sz="1200" dirty="0"/>
          </a:p>
        </p:txBody>
      </p:sp>
      <p:sp>
        <p:nvSpPr>
          <p:cNvPr id="4" name="Shape 2"/>
          <p:cNvSpPr/>
          <p:nvPr/>
        </p:nvSpPr>
        <p:spPr>
          <a:xfrm>
            <a:off x="822960" y="1417320"/>
            <a:ext cx="10607040" cy="0"/>
          </a:xfrm>
          <a:prstGeom prst="line">
            <a:avLst/>
          </a:prstGeom>
          <a:noFill/>
          <a:ln w="12700">
            <a:solidFill>
              <a:srgbClr val="DDE4EA"/>
            </a:solidFill>
            <a:prstDash val="solid"/>
          </a:ln>
        </p:spPr>
      </p:sp>
      <p:sp>
        <p:nvSpPr>
          <p:cNvPr id="5" name="Shape 3"/>
          <p:cNvSpPr/>
          <p:nvPr/>
        </p:nvSpPr>
        <p:spPr>
          <a:xfrm>
            <a:off x="868680" y="1874520"/>
            <a:ext cx="3337560" cy="3246120"/>
          </a:xfrm>
          <a:prstGeom prst="roundRect">
            <a:avLst>
              <a:gd name="adj" fmla="val 2254"/>
            </a:avLst>
          </a:prstGeom>
          <a:solidFill>
            <a:srgbClr val="F6F9FC"/>
          </a:solidFill>
          <a:ln w="12700">
            <a:solidFill>
              <a:srgbClr val="DDE4EA"/>
            </a:solidFill>
            <a:prstDash val="solid"/>
          </a:ln>
        </p:spPr>
      </p:sp>
      <p:sp>
        <p:nvSpPr>
          <p:cNvPr id="6" name="Text 4"/>
          <p:cNvSpPr/>
          <p:nvPr/>
        </p:nvSpPr>
        <p:spPr>
          <a:xfrm>
            <a:off x="1078992" y="2121408"/>
            <a:ext cx="1828800" cy="182880"/>
          </a:xfrm>
          <a:prstGeom prst="rect">
            <a:avLst/>
          </a:prstGeom>
          <a:noFill/>
          <a:ln/>
        </p:spPr>
        <p:txBody>
          <a:bodyPr wrap="square" lIns="0" tIns="0" rIns="0" bIns="0" rtlCol="0" anchor="ctr">
            <a:normAutofit/>
          </a:bodyPr>
          <a:lstStyle/>
          <a:p>
            <a:pPr indent="0" marL="0">
              <a:buNone/>
            </a:pPr>
            <a:r>
              <a:rPr lang="en-US" sz="750" b="1" dirty="0">
                <a:solidFill>
                  <a:srgbClr val="005293"/>
                </a:solidFill>
                <a:latin typeface="Arial" pitchFamily="34" charset="0"/>
                <a:ea typeface="Arial" pitchFamily="34" charset="-122"/>
                <a:cs typeface="Arial" pitchFamily="34" charset="-120"/>
              </a:rPr>
              <a:t>TRAINING SETUP</a:t>
            </a:r>
            <a:endParaRPr lang="en-US" sz="750" dirty="0"/>
          </a:p>
        </p:txBody>
      </p:sp>
      <p:sp>
        <p:nvSpPr>
          <p:cNvPr id="7" name="Text 5"/>
          <p:cNvSpPr/>
          <p:nvPr/>
        </p:nvSpPr>
        <p:spPr>
          <a:xfrm>
            <a:off x="1078992" y="2441448"/>
            <a:ext cx="146304" cy="201168"/>
          </a:xfrm>
          <a:prstGeom prst="rect">
            <a:avLst/>
          </a:prstGeom>
          <a:noFill/>
          <a:ln/>
        </p:spPr>
        <p:txBody>
          <a:bodyPr wrap="square" lIns="0" tIns="0" rIns="0" bIns="0" rtlCol="0" anchor="ctr">
            <a:normAutofit/>
          </a:bodyPr>
          <a:lstStyle/>
          <a:p>
            <a:pPr indent="0" marL="0">
              <a:buNone/>
            </a:pPr>
            <a:r>
              <a:rPr lang="en-US" sz="1180" dirty="0">
                <a:solidFill>
                  <a:srgbClr val="005293"/>
                </a:solidFill>
                <a:latin typeface="Arial" pitchFamily="34" charset="0"/>
                <a:ea typeface="Arial" pitchFamily="34" charset="-122"/>
                <a:cs typeface="Arial" pitchFamily="34" charset="-120"/>
              </a:rPr>
              <a:t>•</a:t>
            </a:r>
            <a:endParaRPr lang="en-US" sz="1180" dirty="0"/>
          </a:p>
        </p:txBody>
      </p:sp>
      <p:sp>
        <p:nvSpPr>
          <p:cNvPr id="8" name="Text 6"/>
          <p:cNvSpPr/>
          <p:nvPr/>
        </p:nvSpPr>
        <p:spPr>
          <a:xfrm>
            <a:off x="1280160" y="2450592"/>
            <a:ext cx="2788920" cy="310896"/>
          </a:xfrm>
          <a:prstGeom prst="rect">
            <a:avLst/>
          </a:prstGeom>
          <a:noFill/>
          <a:ln/>
        </p:spPr>
        <p:txBody>
          <a:bodyPr wrap="square" lIns="0" tIns="0" rIns="0" bIns="0" rtlCol="0" anchor="ctr">
            <a:normAutofit/>
          </a:bodyPr>
          <a:lstStyle/>
          <a:p>
            <a:pPr indent="0" marL="0">
              <a:buNone/>
            </a:pPr>
            <a:r>
              <a:rPr lang="en-US" sz="1080" dirty="0">
                <a:solidFill>
                  <a:srgbClr val="111111"/>
                </a:solidFill>
                <a:latin typeface="Arial" pitchFamily="34" charset="0"/>
                <a:ea typeface="Arial" pitchFamily="34" charset="-122"/>
                <a:cs typeface="Arial" pitchFamily="34" charset="-120"/>
              </a:rPr>
              <a:t>16-class cross-entropy loss</a:t>
            </a:r>
            <a:endParaRPr lang="en-US" sz="1080" dirty="0"/>
          </a:p>
        </p:txBody>
      </p:sp>
      <p:sp>
        <p:nvSpPr>
          <p:cNvPr id="9" name="Text 7"/>
          <p:cNvSpPr/>
          <p:nvPr/>
        </p:nvSpPr>
        <p:spPr>
          <a:xfrm>
            <a:off x="1078992" y="2807208"/>
            <a:ext cx="146304" cy="201168"/>
          </a:xfrm>
          <a:prstGeom prst="rect">
            <a:avLst/>
          </a:prstGeom>
          <a:noFill/>
          <a:ln/>
        </p:spPr>
        <p:txBody>
          <a:bodyPr wrap="square" lIns="0" tIns="0" rIns="0" bIns="0" rtlCol="0" anchor="ctr">
            <a:normAutofit/>
          </a:bodyPr>
          <a:lstStyle/>
          <a:p>
            <a:pPr indent="0" marL="0">
              <a:buNone/>
            </a:pPr>
            <a:r>
              <a:rPr lang="en-US" sz="1180" dirty="0">
                <a:solidFill>
                  <a:srgbClr val="005293"/>
                </a:solidFill>
                <a:latin typeface="Arial" pitchFamily="34" charset="0"/>
                <a:ea typeface="Arial" pitchFamily="34" charset="-122"/>
                <a:cs typeface="Arial" pitchFamily="34" charset="-120"/>
              </a:rPr>
              <a:t>•</a:t>
            </a:r>
            <a:endParaRPr lang="en-US" sz="1180" dirty="0"/>
          </a:p>
        </p:txBody>
      </p:sp>
      <p:sp>
        <p:nvSpPr>
          <p:cNvPr id="10" name="Text 8"/>
          <p:cNvSpPr/>
          <p:nvPr/>
        </p:nvSpPr>
        <p:spPr>
          <a:xfrm>
            <a:off x="1280160" y="2816352"/>
            <a:ext cx="2788920" cy="310896"/>
          </a:xfrm>
          <a:prstGeom prst="rect">
            <a:avLst/>
          </a:prstGeom>
          <a:noFill/>
          <a:ln/>
        </p:spPr>
        <p:txBody>
          <a:bodyPr wrap="square" lIns="0" tIns="0" rIns="0" bIns="0" rtlCol="0" anchor="ctr">
            <a:normAutofit/>
          </a:bodyPr>
          <a:lstStyle/>
          <a:p>
            <a:pPr indent="0" marL="0">
              <a:buNone/>
            </a:pPr>
            <a:r>
              <a:rPr lang="en-US" sz="1080" dirty="0">
                <a:solidFill>
                  <a:srgbClr val="111111"/>
                </a:solidFill>
                <a:latin typeface="Arial" pitchFamily="34" charset="0"/>
                <a:ea typeface="Arial" pitchFamily="34" charset="-122"/>
                <a:cs typeface="Arial" pitchFamily="34" charset="-120"/>
              </a:rPr>
              <a:t>AdamW optimizer</a:t>
            </a:r>
            <a:endParaRPr lang="en-US" sz="1080" dirty="0"/>
          </a:p>
        </p:txBody>
      </p:sp>
      <p:sp>
        <p:nvSpPr>
          <p:cNvPr id="11" name="Text 9"/>
          <p:cNvSpPr/>
          <p:nvPr/>
        </p:nvSpPr>
        <p:spPr>
          <a:xfrm>
            <a:off x="1078992" y="3172968"/>
            <a:ext cx="146304" cy="201168"/>
          </a:xfrm>
          <a:prstGeom prst="rect">
            <a:avLst/>
          </a:prstGeom>
          <a:noFill/>
          <a:ln/>
        </p:spPr>
        <p:txBody>
          <a:bodyPr wrap="square" lIns="0" tIns="0" rIns="0" bIns="0" rtlCol="0" anchor="ctr">
            <a:normAutofit/>
          </a:bodyPr>
          <a:lstStyle/>
          <a:p>
            <a:pPr indent="0" marL="0">
              <a:buNone/>
            </a:pPr>
            <a:r>
              <a:rPr lang="en-US" sz="1180" dirty="0">
                <a:solidFill>
                  <a:srgbClr val="005293"/>
                </a:solidFill>
                <a:latin typeface="Arial" pitchFamily="34" charset="0"/>
                <a:ea typeface="Arial" pitchFamily="34" charset="-122"/>
                <a:cs typeface="Arial" pitchFamily="34" charset="-120"/>
              </a:rPr>
              <a:t>•</a:t>
            </a:r>
            <a:endParaRPr lang="en-US" sz="1180" dirty="0"/>
          </a:p>
        </p:txBody>
      </p:sp>
      <p:sp>
        <p:nvSpPr>
          <p:cNvPr id="12" name="Text 10"/>
          <p:cNvSpPr/>
          <p:nvPr/>
        </p:nvSpPr>
        <p:spPr>
          <a:xfrm>
            <a:off x="1280160" y="3182112"/>
            <a:ext cx="2788920" cy="310896"/>
          </a:xfrm>
          <a:prstGeom prst="rect">
            <a:avLst/>
          </a:prstGeom>
          <a:noFill/>
          <a:ln/>
        </p:spPr>
        <p:txBody>
          <a:bodyPr wrap="square" lIns="0" tIns="0" rIns="0" bIns="0" rtlCol="0" anchor="ctr">
            <a:normAutofit/>
          </a:bodyPr>
          <a:lstStyle/>
          <a:p>
            <a:pPr indent="0" marL="0">
              <a:buNone/>
            </a:pPr>
            <a:r>
              <a:rPr lang="en-US" sz="1080" dirty="0">
                <a:solidFill>
                  <a:srgbClr val="111111"/>
                </a:solidFill>
                <a:latin typeface="Arial" pitchFamily="34" charset="0"/>
                <a:ea typeface="Arial" pitchFamily="34" charset="-122"/>
                <a:cs typeface="Arial" pitchFamily="34" charset="-120"/>
              </a:rPr>
              <a:t>stratified 10% validation split</a:t>
            </a:r>
            <a:endParaRPr lang="en-US" sz="1080" dirty="0"/>
          </a:p>
        </p:txBody>
      </p:sp>
      <p:sp>
        <p:nvSpPr>
          <p:cNvPr id="13" name="Text 11"/>
          <p:cNvSpPr/>
          <p:nvPr/>
        </p:nvSpPr>
        <p:spPr>
          <a:xfrm>
            <a:off x="1078992" y="3538728"/>
            <a:ext cx="146304" cy="201168"/>
          </a:xfrm>
          <a:prstGeom prst="rect">
            <a:avLst/>
          </a:prstGeom>
          <a:noFill/>
          <a:ln/>
        </p:spPr>
        <p:txBody>
          <a:bodyPr wrap="square" lIns="0" tIns="0" rIns="0" bIns="0" rtlCol="0" anchor="ctr">
            <a:normAutofit/>
          </a:bodyPr>
          <a:lstStyle/>
          <a:p>
            <a:pPr indent="0" marL="0">
              <a:buNone/>
            </a:pPr>
            <a:r>
              <a:rPr lang="en-US" sz="1180" dirty="0">
                <a:solidFill>
                  <a:srgbClr val="005293"/>
                </a:solidFill>
                <a:latin typeface="Arial" pitchFamily="34" charset="0"/>
                <a:ea typeface="Arial" pitchFamily="34" charset="-122"/>
                <a:cs typeface="Arial" pitchFamily="34" charset="-120"/>
              </a:rPr>
              <a:t>•</a:t>
            </a:r>
            <a:endParaRPr lang="en-US" sz="1180" dirty="0"/>
          </a:p>
        </p:txBody>
      </p:sp>
      <p:sp>
        <p:nvSpPr>
          <p:cNvPr id="14" name="Text 12"/>
          <p:cNvSpPr/>
          <p:nvPr/>
        </p:nvSpPr>
        <p:spPr>
          <a:xfrm>
            <a:off x="1280160" y="3547872"/>
            <a:ext cx="2788920" cy="310896"/>
          </a:xfrm>
          <a:prstGeom prst="rect">
            <a:avLst/>
          </a:prstGeom>
          <a:noFill/>
          <a:ln/>
        </p:spPr>
        <p:txBody>
          <a:bodyPr wrap="square" lIns="0" tIns="0" rIns="0" bIns="0" rtlCol="0" anchor="ctr">
            <a:normAutofit/>
          </a:bodyPr>
          <a:lstStyle/>
          <a:p>
            <a:pPr indent="0" marL="0">
              <a:buNone/>
            </a:pPr>
            <a:r>
              <a:rPr lang="en-US" sz="1080" dirty="0">
                <a:solidFill>
                  <a:srgbClr val="111111"/>
                </a:solidFill>
                <a:latin typeface="Arial" pitchFamily="34" charset="0"/>
                <a:ea typeface="Arial" pitchFamily="34" charset="-122"/>
                <a:cs typeface="Arial" pitchFamily="34" charset="-120"/>
              </a:rPr>
              <a:t>macro-F1 used for checkpoint selection</a:t>
            </a:r>
            <a:endParaRPr lang="en-US" sz="1080" dirty="0"/>
          </a:p>
        </p:txBody>
      </p:sp>
      <p:sp>
        <p:nvSpPr>
          <p:cNvPr id="15" name="Text 13"/>
          <p:cNvSpPr/>
          <p:nvPr/>
        </p:nvSpPr>
        <p:spPr>
          <a:xfrm>
            <a:off x="1078992" y="3904488"/>
            <a:ext cx="146304" cy="201168"/>
          </a:xfrm>
          <a:prstGeom prst="rect">
            <a:avLst/>
          </a:prstGeom>
          <a:noFill/>
          <a:ln/>
        </p:spPr>
        <p:txBody>
          <a:bodyPr wrap="square" lIns="0" tIns="0" rIns="0" bIns="0" rtlCol="0" anchor="ctr">
            <a:normAutofit/>
          </a:bodyPr>
          <a:lstStyle/>
          <a:p>
            <a:pPr indent="0" marL="0">
              <a:buNone/>
            </a:pPr>
            <a:r>
              <a:rPr lang="en-US" sz="1180" dirty="0">
                <a:solidFill>
                  <a:srgbClr val="005293"/>
                </a:solidFill>
                <a:latin typeface="Arial" pitchFamily="34" charset="0"/>
                <a:ea typeface="Arial" pitchFamily="34" charset="-122"/>
                <a:cs typeface="Arial" pitchFamily="34" charset="-120"/>
              </a:rPr>
              <a:t>•</a:t>
            </a:r>
            <a:endParaRPr lang="en-US" sz="1180" dirty="0"/>
          </a:p>
        </p:txBody>
      </p:sp>
      <p:sp>
        <p:nvSpPr>
          <p:cNvPr id="16" name="Text 14"/>
          <p:cNvSpPr/>
          <p:nvPr/>
        </p:nvSpPr>
        <p:spPr>
          <a:xfrm>
            <a:off x="1280160" y="3913632"/>
            <a:ext cx="2788920" cy="420624"/>
          </a:xfrm>
          <a:prstGeom prst="rect">
            <a:avLst/>
          </a:prstGeom>
          <a:noFill/>
          <a:ln/>
        </p:spPr>
        <p:txBody>
          <a:bodyPr wrap="square" lIns="0" tIns="0" rIns="0" bIns="0" rtlCol="0" anchor="ctr">
            <a:normAutofit/>
          </a:bodyPr>
          <a:lstStyle/>
          <a:p>
            <a:pPr indent="0" marL="0">
              <a:buNone/>
            </a:pPr>
            <a:r>
              <a:rPr lang="en-US" sz="1080" dirty="0">
                <a:solidFill>
                  <a:srgbClr val="111111"/>
                </a:solidFill>
                <a:latin typeface="Arial" pitchFamily="34" charset="0"/>
                <a:ea typeface="Arial" pitchFamily="34" charset="-122"/>
                <a:cs typeface="Arial" pitchFamily="34" charset="-120"/>
              </a:rPr>
              <a:t>normalization and prototypes fitted on train only</a:t>
            </a:r>
            <a:endParaRPr lang="en-US" sz="1080" dirty="0"/>
          </a:p>
        </p:txBody>
      </p:sp>
      <p:sp>
        <p:nvSpPr>
          <p:cNvPr id="17" name="Shape 15"/>
          <p:cNvSpPr/>
          <p:nvPr/>
        </p:nvSpPr>
        <p:spPr>
          <a:xfrm>
            <a:off x="1078992" y="4498848"/>
            <a:ext cx="2697480" cy="402336"/>
          </a:xfrm>
          <a:prstGeom prst="roundRect">
            <a:avLst>
              <a:gd name="adj" fmla="val 18182"/>
            </a:avLst>
          </a:prstGeom>
          <a:solidFill>
            <a:srgbClr val="FFFFFF"/>
          </a:solidFill>
          <a:ln w="12700">
            <a:solidFill>
              <a:srgbClr val="DDE4EA"/>
            </a:solidFill>
            <a:prstDash val="solid"/>
          </a:ln>
        </p:spPr>
      </p:sp>
      <p:sp>
        <p:nvSpPr>
          <p:cNvPr id="18" name="Text 16"/>
          <p:cNvSpPr/>
          <p:nvPr/>
        </p:nvSpPr>
        <p:spPr>
          <a:xfrm>
            <a:off x="1234440" y="4617720"/>
            <a:ext cx="2423160" cy="146304"/>
          </a:xfrm>
          <a:prstGeom prst="rect">
            <a:avLst/>
          </a:prstGeom>
          <a:noFill/>
          <a:ln/>
        </p:spPr>
        <p:txBody>
          <a:bodyPr wrap="square" lIns="0" tIns="0" rIns="0" bIns="0" rtlCol="0" anchor="ctr">
            <a:normAutofit/>
          </a:bodyPr>
          <a:lstStyle/>
          <a:p>
            <a:pPr indent="0" marL="0">
              <a:buNone/>
            </a:pPr>
            <a:r>
              <a:rPr lang="en-US" sz="980" b="1" dirty="0">
                <a:solidFill>
                  <a:srgbClr val="00A38A"/>
                </a:solidFill>
                <a:latin typeface="Arial" pitchFamily="34" charset="0"/>
                <a:ea typeface="Arial" pitchFamily="34" charset="-122"/>
                <a:cs typeface="Arial" pitchFamily="34" charset="-120"/>
              </a:rPr>
              <a:t>Best checkpoint: epoch 29</a:t>
            </a:r>
            <a:endParaRPr lang="en-US" sz="980" dirty="0"/>
          </a:p>
        </p:txBody>
      </p:sp>
      <p:pic>
        <p:nvPicPr>
          <p:cNvPr id="19" name="Image 0" descr="/Users/adrian/Desktop/P&amp;S/outputs/task1_learning_curve_polished.png">    </p:cNvPr>
          <p:cNvPicPr>
            <a:picLocks noChangeAspect="1"/>
          </p:cNvPicPr>
          <p:nvPr/>
        </p:nvPicPr>
        <p:blipFill>
          <a:blip r:embed="rId1"/>
          <a:stretch>
            <a:fillRect/>
          </a:stretch>
        </p:blipFill>
        <p:spPr>
          <a:xfrm>
            <a:off x="4526280" y="1783080"/>
            <a:ext cx="6720840" cy="3547872"/>
          </a:xfrm>
          <a:prstGeom prst="rect">
            <a:avLst/>
          </a:prstGeom>
        </p:spPr>
      </p:pic>
      <p:sp>
        <p:nvSpPr>
          <p:cNvPr id="20" name="Shape 17"/>
          <p:cNvSpPr/>
          <p:nvPr/>
        </p:nvSpPr>
        <p:spPr>
          <a:xfrm>
            <a:off x="4526280" y="5458968"/>
            <a:ext cx="6720840" cy="0"/>
          </a:xfrm>
          <a:prstGeom prst="line">
            <a:avLst/>
          </a:prstGeom>
          <a:noFill/>
          <a:ln w="12700">
            <a:solidFill>
              <a:srgbClr val="DDE4EA"/>
            </a:solidFill>
            <a:prstDash val="solid"/>
          </a:ln>
        </p:spPr>
      </p:sp>
      <p:sp>
        <p:nvSpPr>
          <p:cNvPr id="21" name="Text 18"/>
          <p:cNvSpPr/>
          <p:nvPr/>
        </p:nvSpPr>
        <p:spPr>
          <a:xfrm>
            <a:off x="4526280" y="5577840"/>
            <a:ext cx="6720840" cy="310896"/>
          </a:xfrm>
          <a:prstGeom prst="rect">
            <a:avLst/>
          </a:prstGeom>
          <a:noFill/>
          <a:ln/>
        </p:spPr>
        <p:txBody>
          <a:bodyPr wrap="square" lIns="0" tIns="0" rIns="0" bIns="0" rtlCol="0" anchor="ctr">
            <a:normAutofit/>
          </a:bodyPr>
          <a:lstStyle/>
          <a:p>
            <a:pPr indent="0" marL="0">
              <a:buNone/>
            </a:pPr>
            <a:r>
              <a:rPr lang="en-US" sz="1020" dirty="0">
                <a:solidFill>
                  <a:srgbClr val="666666"/>
                </a:solidFill>
                <a:latin typeface="Arial" pitchFamily="34" charset="0"/>
                <a:ea typeface="Arial" pitchFamily="34" charset="-122"/>
                <a:cs typeface="Arial" pitchFamily="34" charset="-120"/>
              </a:rPr>
              <a:t>Learning pattern: fast early improvement, then plateau. Training stopped at epoch 45 after no further macro-F1 improvement.</a:t>
            </a:r>
            <a:endParaRPr lang="en-US" sz="1020" dirty="0"/>
          </a:p>
        </p:txBody>
      </p:sp>
      <p:pic>
        <p:nvPicPr>
          <p:cNvPr id="22" name="Image 1" descr="/Users/adrian/Desktop/P&amp;S/outputs/presentation_assets/eth_image1.png">    </p:cNvPr>
          <p:cNvPicPr>
            <a:picLocks noChangeAspect="1"/>
          </p:cNvPicPr>
          <p:nvPr/>
        </p:nvPicPr>
        <p:blipFill>
          <a:blip r:embed="rId2"/>
          <a:stretch>
            <a:fillRect/>
          </a:stretch>
        </p:blipFill>
        <p:spPr>
          <a:xfrm>
            <a:off x="566928" y="6355080"/>
            <a:ext cx="1143000" cy="187452"/>
          </a:xfrm>
          <a:prstGeom prst="rect">
            <a:avLst/>
          </a:prstGeom>
        </p:spPr>
      </p:pic>
      <p:sp>
        <p:nvSpPr>
          <p:cNvPr id="23" name="Text 19"/>
          <p:cNvSpPr/>
          <p:nvPr/>
        </p:nvSpPr>
        <p:spPr>
          <a:xfrm>
            <a:off x="2331720" y="6345936"/>
            <a:ext cx="3840480" cy="228600"/>
          </a:xfrm>
          <a:prstGeom prst="rect">
            <a:avLst/>
          </a:prstGeom>
          <a:noFill/>
          <a:ln/>
        </p:spPr>
        <p:txBody>
          <a:bodyPr wrap="square" lIns="0" tIns="0" rIns="0" bIns="0" rtlCol="0" anchor="ctr"/>
          <a:lstStyle/>
          <a:p>
            <a:pPr indent="0" marL="0">
              <a:buNone/>
            </a:pPr>
            <a:r>
              <a:rPr lang="en-US" sz="850" dirty="0">
                <a:solidFill>
                  <a:srgbClr val="111111"/>
                </a:solidFill>
                <a:latin typeface="Arial" pitchFamily="34" charset="0"/>
                <a:ea typeface="Arial" pitchFamily="34" charset="-122"/>
                <a:cs typeface="Arial" pitchFamily="34" charset="-120"/>
              </a:rPr>
              <a:t>Group 4 · Task 1 Decoding</a:t>
            </a:r>
            <a:endParaRPr lang="en-US" sz="850" dirty="0"/>
          </a:p>
        </p:txBody>
      </p:sp>
      <p:sp>
        <p:nvSpPr>
          <p:cNvPr id="24" name="Text 20"/>
          <p:cNvSpPr/>
          <p:nvPr/>
        </p:nvSpPr>
        <p:spPr>
          <a:xfrm>
            <a:off x="11201400" y="6345936"/>
            <a:ext cx="228600" cy="228600"/>
          </a:xfrm>
          <a:prstGeom prst="rect">
            <a:avLst/>
          </a:prstGeom>
          <a:noFill/>
          <a:ln/>
        </p:spPr>
        <p:txBody>
          <a:bodyPr wrap="square" lIns="0" tIns="0" rIns="0" bIns="0" rtlCol="0" anchor="ctr"/>
          <a:lstStyle/>
          <a:p>
            <a:pPr algn="r" indent="0" marL="0">
              <a:buNone/>
            </a:pPr>
            <a:r>
              <a:rPr lang="en-US" sz="850" dirty="0">
                <a:solidFill>
                  <a:srgbClr val="111111"/>
                </a:solidFill>
                <a:latin typeface="Arial" pitchFamily="34" charset="0"/>
                <a:ea typeface="Arial" pitchFamily="34" charset="-122"/>
                <a:cs typeface="Arial" pitchFamily="34" charset="-120"/>
              </a:rPr>
              <a:t>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02920"/>
            <a:ext cx="10012680" cy="502920"/>
          </a:xfrm>
          <a:prstGeom prst="rect">
            <a:avLst/>
          </a:prstGeom>
          <a:noFill/>
          <a:ln/>
        </p:spPr>
        <p:txBody>
          <a:bodyPr wrap="square" lIns="0" tIns="0" rIns="0" bIns="0" rtlCol="0" anchor="ctr">
            <a:normAutofit/>
          </a:bodyPr>
          <a:lstStyle/>
          <a:p>
            <a:pPr indent="0" marL="0">
              <a:buNone/>
            </a:pPr>
            <a:r>
              <a:rPr lang="en-US" sz="2900" b="1" dirty="0">
                <a:solidFill>
                  <a:srgbClr val="111111"/>
                </a:solidFill>
                <a:latin typeface="Arial" pitchFamily="34" charset="0"/>
                <a:ea typeface="Arial" pitchFamily="34" charset="-122"/>
                <a:cs typeface="Arial" pitchFamily="34" charset="-120"/>
              </a:rPr>
              <a:t>Results: strong within-recording decoding</a:t>
            </a:r>
            <a:endParaRPr lang="en-US" sz="2900" dirty="0"/>
          </a:p>
        </p:txBody>
      </p:sp>
      <p:sp>
        <p:nvSpPr>
          <p:cNvPr id="3" name="Text 1"/>
          <p:cNvSpPr/>
          <p:nvPr/>
        </p:nvSpPr>
        <p:spPr>
          <a:xfrm>
            <a:off x="850392" y="1069848"/>
            <a:ext cx="10012680" cy="256032"/>
          </a:xfrm>
          <a:prstGeom prst="rect">
            <a:avLst/>
          </a:prstGeom>
          <a:noFill/>
          <a:ln/>
        </p:spPr>
        <p:txBody>
          <a:bodyPr wrap="square" lIns="0" tIns="0" rIns="0" bIns="0" rtlCol="0" anchor="ctr">
            <a:normAutofit/>
          </a:bodyPr>
          <a:lstStyle/>
          <a:p>
            <a:pPr indent="0" marL="0">
              <a:buNone/>
            </a:pPr>
            <a:r>
              <a:rPr lang="en-US" sz="1200" dirty="0">
                <a:solidFill>
                  <a:srgbClr val="666666"/>
                </a:solidFill>
                <a:latin typeface="Arial" pitchFamily="34" charset="0"/>
                <a:ea typeface="Arial" pitchFamily="34" charset="-122"/>
                <a:cs typeface="Arial" pitchFamily="34" charset="-120"/>
              </a:rPr>
              <a:t>Most stimulation patterns are recovered almost perfectly from the response fingerprint.</a:t>
            </a:r>
            <a:endParaRPr lang="en-US" sz="1200" dirty="0"/>
          </a:p>
        </p:txBody>
      </p:sp>
      <p:sp>
        <p:nvSpPr>
          <p:cNvPr id="4" name="Shape 2"/>
          <p:cNvSpPr/>
          <p:nvPr/>
        </p:nvSpPr>
        <p:spPr>
          <a:xfrm>
            <a:off x="822960" y="1417320"/>
            <a:ext cx="10607040" cy="0"/>
          </a:xfrm>
          <a:prstGeom prst="line">
            <a:avLst/>
          </a:prstGeom>
          <a:noFill/>
          <a:ln w="12700">
            <a:solidFill>
              <a:srgbClr val="DDE4EA"/>
            </a:solidFill>
            <a:prstDash val="solid"/>
          </a:ln>
        </p:spPr>
      </p:sp>
      <p:sp>
        <p:nvSpPr>
          <p:cNvPr id="5" name="Text 3"/>
          <p:cNvSpPr/>
          <p:nvPr/>
        </p:nvSpPr>
        <p:spPr>
          <a:xfrm>
            <a:off x="868680" y="1847088"/>
            <a:ext cx="2148840" cy="658368"/>
          </a:xfrm>
          <a:prstGeom prst="rect">
            <a:avLst/>
          </a:prstGeom>
          <a:noFill/>
          <a:ln/>
        </p:spPr>
        <p:txBody>
          <a:bodyPr wrap="square" lIns="0" tIns="0" rIns="0" bIns="0" rtlCol="0" anchor="ctr">
            <a:normAutofit/>
          </a:bodyPr>
          <a:lstStyle/>
          <a:p>
            <a:pPr indent="0" marL="0">
              <a:buNone/>
            </a:pPr>
            <a:r>
              <a:rPr lang="en-US" sz="4000" b="1" dirty="0">
                <a:solidFill>
                  <a:srgbClr val="111111"/>
                </a:solidFill>
                <a:latin typeface="Arial" pitchFamily="34" charset="0"/>
                <a:ea typeface="Arial" pitchFamily="34" charset="-122"/>
                <a:cs typeface="Arial" pitchFamily="34" charset="-120"/>
              </a:rPr>
              <a:t>98.53%</a:t>
            </a:r>
            <a:endParaRPr lang="en-US" sz="4000" dirty="0"/>
          </a:p>
        </p:txBody>
      </p:sp>
      <p:sp>
        <p:nvSpPr>
          <p:cNvPr id="6" name="Text 4"/>
          <p:cNvSpPr/>
          <p:nvPr/>
        </p:nvSpPr>
        <p:spPr>
          <a:xfrm>
            <a:off x="896112" y="2505456"/>
            <a:ext cx="2011680" cy="228600"/>
          </a:xfrm>
          <a:prstGeom prst="rect">
            <a:avLst/>
          </a:prstGeom>
          <a:noFill/>
          <a:ln/>
        </p:spPr>
        <p:txBody>
          <a:bodyPr wrap="square" lIns="0" tIns="0" rIns="0" bIns="0" rtlCol="0" anchor="ctr">
            <a:normAutofit/>
          </a:bodyPr>
          <a:lstStyle/>
          <a:p>
            <a:pPr indent="0" marL="0">
              <a:buNone/>
            </a:pPr>
            <a:r>
              <a:rPr lang="en-US" sz="1150" b="1" dirty="0">
                <a:solidFill>
                  <a:srgbClr val="666666"/>
                </a:solidFill>
                <a:latin typeface="Arial" pitchFamily="34" charset="0"/>
                <a:ea typeface="Arial" pitchFamily="34" charset="-122"/>
                <a:cs typeface="Arial" pitchFamily="34" charset="-120"/>
              </a:rPr>
              <a:t>validation macro-F1</a:t>
            </a:r>
            <a:endParaRPr lang="en-US" sz="1150" dirty="0"/>
          </a:p>
        </p:txBody>
      </p:sp>
      <p:sp>
        <p:nvSpPr>
          <p:cNvPr id="7" name="Text 5"/>
          <p:cNvSpPr/>
          <p:nvPr/>
        </p:nvSpPr>
        <p:spPr>
          <a:xfrm>
            <a:off x="896112" y="2898648"/>
            <a:ext cx="2148840" cy="228600"/>
          </a:xfrm>
          <a:prstGeom prst="rect">
            <a:avLst/>
          </a:prstGeom>
          <a:noFill/>
          <a:ln/>
        </p:spPr>
        <p:txBody>
          <a:bodyPr wrap="square" lIns="0" tIns="0" rIns="0" bIns="0" rtlCol="0" anchor="ctr">
            <a:normAutofit/>
          </a:bodyPr>
          <a:lstStyle/>
          <a:p>
            <a:pPr indent="0" marL="0">
              <a:buNone/>
            </a:pPr>
            <a:r>
              <a:rPr lang="en-US" sz="1150" dirty="0">
                <a:solidFill>
                  <a:srgbClr val="111111"/>
                </a:solidFill>
                <a:latin typeface="Arial" pitchFamily="34" charset="0"/>
                <a:ea typeface="Arial" pitchFamily="34" charset="-122"/>
                <a:cs typeface="Arial" pitchFamily="34" charset="-120"/>
              </a:rPr>
              <a:t>98.53% validation accuracy</a:t>
            </a:r>
            <a:endParaRPr lang="en-US" sz="1150" dirty="0"/>
          </a:p>
        </p:txBody>
      </p:sp>
      <p:sp>
        <p:nvSpPr>
          <p:cNvPr id="8" name="Text 6"/>
          <p:cNvSpPr/>
          <p:nvPr/>
        </p:nvSpPr>
        <p:spPr>
          <a:xfrm>
            <a:off x="896112" y="3218688"/>
            <a:ext cx="2148840" cy="228600"/>
          </a:xfrm>
          <a:prstGeom prst="rect">
            <a:avLst/>
          </a:prstGeom>
          <a:noFill/>
          <a:ln/>
        </p:spPr>
        <p:txBody>
          <a:bodyPr wrap="square" lIns="0" tIns="0" rIns="0" bIns="0" rtlCol="0" anchor="ctr">
            <a:normAutofit/>
          </a:bodyPr>
          <a:lstStyle/>
          <a:p>
            <a:pPr indent="0" marL="0">
              <a:buNone/>
            </a:pPr>
            <a:r>
              <a:rPr lang="en-US" sz="1150" dirty="0">
                <a:solidFill>
                  <a:srgbClr val="666666"/>
                </a:solidFill>
                <a:latin typeface="Arial" pitchFamily="34" charset="0"/>
                <a:ea typeface="Arial" pitchFamily="34" charset="-122"/>
                <a:cs typeface="Arial" pitchFamily="34" charset="-120"/>
              </a:rPr>
              <a:t>Chance: 6.25%</a:t>
            </a:r>
            <a:endParaRPr lang="en-US" sz="1150" dirty="0"/>
          </a:p>
        </p:txBody>
      </p:sp>
      <p:sp>
        <p:nvSpPr>
          <p:cNvPr id="9" name="Shape 7"/>
          <p:cNvSpPr/>
          <p:nvPr/>
        </p:nvSpPr>
        <p:spPr>
          <a:xfrm>
            <a:off x="3429000" y="1874520"/>
            <a:ext cx="2331720" cy="1874520"/>
          </a:xfrm>
          <a:prstGeom prst="roundRect">
            <a:avLst>
              <a:gd name="adj" fmla="val 3902"/>
            </a:avLst>
          </a:prstGeom>
          <a:solidFill>
            <a:srgbClr val="F6F9FC"/>
          </a:solidFill>
          <a:ln w="12700">
            <a:solidFill>
              <a:srgbClr val="DDE4EA"/>
            </a:solidFill>
            <a:prstDash val="solid"/>
          </a:ln>
        </p:spPr>
      </p:sp>
      <p:sp>
        <p:nvSpPr>
          <p:cNvPr id="10" name="Text 8"/>
          <p:cNvSpPr/>
          <p:nvPr/>
        </p:nvSpPr>
        <p:spPr>
          <a:xfrm>
            <a:off x="3639312" y="2121408"/>
            <a:ext cx="1920240" cy="182880"/>
          </a:xfrm>
          <a:prstGeom prst="rect">
            <a:avLst/>
          </a:prstGeom>
          <a:noFill/>
          <a:ln/>
        </p:spPr>
        <p:txBody>
          <a:bodyPr wrap="square" lIns="0" tIns="0" rIns="0" bIns="0" rtlCol="0" anchor="ctr">
            <a:normAutofit/>
          </a:bodyPr>
          <a:lstStyle/>
          <a:p>
            <a:pPr indent="0" marL="0">
              <a:buNone/>
            </a:pPr>
            <a:r>
              <a:rPr lang="en-US" sz="750" b="1" dirty="0">
                <a:solidFill>
                  <a:srgbClr val="008575"/>
                </a:solidFill>
                <a:latin typeface="Arial" pitchFamily="34" charset="0"/>
                <a:ea typeface="Arial" pitchFamily="34" charset="-122"/>
                <a:cs typeface="Arial" pitchFamily="34" charset="-120"/>
              </a:rPr>
              <a:t>PERFORMANCE STABILITY</a:t>
            </a:r>
            <a:endParaRPr lang="en-US" sz="750" dirty="0"/>
          </a:p>
        </p:txBody>
      </p:sp>
      <p:sp>
        <p:nvSpPr>
          <p:cNvPr id="11" name="Text 9"/>
          <p:cNvSpPr/>
          <p:nvPr/>
        </p:nvSpPr>
        <p:spPr>
          <a:xfrm>
            <a:off x="3639312" y="2468880"/>
            <a:ext cx="658368" cy="411480"/>
          </a:xfrm>
          <a:prstGeom prst="rect">
            <a:avLst/>
          </a:prstGeom>
          <a:noFill/>
          <a:ln/>
        </p:spPr>
        <p:txBody>
          <a:bodyPr wrap="square" lIns="0" tIns="0" rIns="0" bIns="0" rtlCol="0" anchor="ctr">
            <a:normAutofit/>
          </a:bodyPr>
          <a:lstStyle/>
          <a:p>
            <a:pPr indent="0" marL="0">
              <a:buNone/>
            </a:pPr>
            <a:r>
              <a:rPr lang="en-US" sz="2400" b="1" dirty="0">
                <a:solidFill>
                  <a:srgbClr val="111111"/>
                </a:solidFill>
                <a:latin typeface="Arial" pitchFamily="34" charset="0"/>
                <a:ea typeface="Arial" pitchFamily="34" charset="-122"/>
                <a:cs typeface="Arial" pitchFamily="34" charset="-120"/>
              </a:rPr>
              <a:t>34</a:t>
            </a:r>
            <a:endParaRPr lang="en-US" sz="2400" dirty="0"/>
          </a:p>
        </p:txBody>
      </p:sp>
      <p:sp>
        <p:nvSpPr>
          <p:cNvPr id="12" name="Text 10"/>
          <p:cNvSpPr/>
          <p:nvPr/>
        </p:nvSpPr>
        <p:spPr>
          <a:xfrm>
            <a:off x="4315968" y="2615184"/>
            <a:ext cx="1188720" cy="201168"/>
          </a:xfrm>
          <a:prstGeom prst="rect">
            <a:avLst/>
          </a:prstGeom>
          <a:noFill/>
          <a:ln/>
        </p:spPr>
        <p:txBody>
          <a:bodyPr wrap="square" lIns="0" tIns="0" rIns="0" bIns="0" rtlCol="0" anchor="ctr">
            <a:normAutofit/>
          </a:bodyPr>
          <a:lstStyle/>
          <a:p>
            <a:pPr indent="0" marL="0">
              <a:buNone/>
            </a:pPr>
            <a:r>
              <a:rPr lang="en-US" sz="950" dirty="0">
                <a:solidFill>
                  <a:srgbClr val="666666"/>
                </a:solidFill>
                <a:latin typeface="Arial" pitchFamily="34" charset="0"/>
                <a:ea typeface="Arial" pitchFamily="34" charset="-122"/>
                <a:cs typeface="Arial" pitchFamily="34" charset="-120"/>
              </a:rPr>
              <a:t>stimulation frequencies</a:t>
            </a:r>
            <a:endParaRPr lang="en-US" sz="950" dirty="0"/>
          </a:p>
        </p:txBody>
      </p:sp>
      <p:sp>
        <p:nvSpPr>
          <p:cNvPr id="13" name="Text 11"/>
          <p:cNvSpPr/>
          <p:nvPr/>
        </p:nvSpPr>
        <p:spPr>
          <a:xfrm>
            <a:off x="3639312" y="3035808"/>
            <a:ext cx="1847088" cy="384048"/>
          </a:xfrm>
          <a:prstGeom prst="rect">
            <a:avLst/>
          </a:prstGeom>
          <a:noFill/>
          <a:ln/>
        </p:spPr>
        <p:txBody>
          <a:bodyPr wrap="square" lIns="0" tIns="0" rIns="0" bIns="0" rtlCol="0" anchor="ctr">
            <a:normAutofit/>
          </a:bodyPr>
          <a:lstStyle/>
          <a:p>
            <a:pPr indent="0" marL="0">
              <a:buNone/>
            </a:pPr>
            <a:r>
              <a:rPr lang="en-US" sz="1050" dirty="0">
                <a:solidFill>
                  <a:srgbClr val="111111"/>
                </a:solidFill>
                <a:latin typeface="Arial" pitchFamily="34" charset="0"/>
                <a:ea typeface="Arial" pitchFamily="34" charset="-122"/>
                <a:cs typeface="Arial" pitchFamily="34" charset="-120"/>
              </a:rPr>
              <a:t>Worst observed frequency accuracy: 95.35%.</a:t>
            </a:r>
            <a:endParaRPr lang="en-US" sz="1050" dirty="0"/>
          </a:p>
        </p:txBody>
      </p:sp>
      <p:sp>
        <p:nvSpPr>
          <p:cNvPr id="14" name="Shape 12"/>
          <p:cNvSpPr/>
          <p:nvPr/>
        </p:nvSpPr>
        <p:spPr>
          <a:xfrm>
            <a:off x="6126480" y="1874520"/>
            <a:ext cx="2331720" cy="1874520"/>
          </a:xfrm>
          <a:prstGeom prst="roundRect">
            <a:avLst>
              <a:gd name="adj" fmla="val 3902"/>
            </a:avLst>
          </a:prstGeom>
          <a:solidFill>
            <a:srgbClr val="FFF7F7"/>
          </a:solidFill>
          <a:ln w="12700">
            <a:solidFill>
              <a:srgbClr val="F2C2C7"/>
            </a:solidFill>
            <a:prstDash val="solid"/>
          </a:ln>
        </p:spPr>
      </p:sp>
      <p:sp>
        <p:nvSpPr>
          <p:cNvPr id="15" name="Text 13"/>
          <p:cNvSpPr/>
          <p:nvPr/>
        </p:nvSpPr>
        <p:spPr>
          <a:xfrm>
            <a:off x="6336792" y="2121408"/>
            <a:ext cx="1371600" cy="182880"/>
          </a:xfrm>
          <a:prstGeom prst="rect">
            <a:avLst/>
          </a:prstGeom>
          <a:noFill/>
          <a:ln/>
        </p:spPr>
        <p:txBody>
          <a:bodyPr wrap="square" lIns="0" tIns="0" rIns="0" bIns="0" rtlCol="0" anchor="ctr">
            <a:normAutofit/>
          </a:bodyPr>
          <a:lstStyle/>
          <a:p>
            <a:pPr indent="0" marL="0">
              <a:buNone/>
            </a:pPr>
            <a:r>
              <a:rPr lang="en-US" sz="750" b="1" dirty="0">
                <a:solidFill>
                  <a:srgbClr val="FF4052"/>
                </a:solidFill>
                <a:latin typeface="Arial" pitchFamily="34" charset="0"/>
                <a:ea typeface="Arial" pitchFamily="34" charset="-122"/>
                <a:cs typeface="Arial" pitchFamily="34" charset="-120"/>
              </a:rPr>
              <a:t>WORST CLASS</a:t>
            </a:r>
            <a:endParaRPr lang="en-US" sz="750" dirty="0"/>
          </a:p>
        </p:txBody>
      </p:sp>
      <p:sp>
        <p:nvSpPr>
          <p:cNvPr id="16" name="Text 14"/>
          <p:cNvSpPr/>
          <p:nvPr/>
        </p:nvSpPr>
        <p:spPr>
          <a:xfrm>
            <a:off x="6336792" y="2487168"/>
            <a:ext cx="1234440" cy="310896"/>
          </a:xfrm>
          <a:prstGeom prst="rect">
            <a:avLst/>
          </a:prstGeom>
          <a:noFill/>
          <a:ln/>
        </p:spPr>
        <p:txBody>
          <a:bodyPr wrap="square" lIns="0" tIns="0" rIns="0" bIns="0" rtlCol="0" anchor="ctr">
            <a:normAutofit/>
          </a:bodyPr>
          <a:lstStyle/>
          <a:p>
            <a:pPr indent="0" marL="0">
              <a:buNone/>
            </a:pPr>
            <a:r>
              <a:rPr lang="en-US" sz="1700" b="1" dirty="0">
                <a:solidFill>
                  <a:srgbClr val="111111"/>
                </a:solidFill>
                <a:latin typeface="Arial" pitchFamily="34" charset="0"/>
                <a:ea typeface="Arial" pitchFamily="34" charset="-122"/>
                <a:cs typeface="Arial" pitchFamily="34" charset="-120"/>
              </a:rPr>
              <a:t>Pattern 2</a:t>
            </a:r>
            <a:endParaRPr lang="en-US" sz="1700" dirty="0"/>
          </a:p>
        </p:txBody>
      </p:sp>
      <p:sp>
        <p:nvSpPr>
          <p:cNvPr id="17" name="Text 15"/>
          <p:cNvSpPr/>
          <p:nvPr/>
        </p:nvSpPr>
        <p:spPr>
          <a:xfrm>
            <a:off x="6336792" y="2871216"/>
            <a:ext cx="1508760" cy="256032"/>
          </a:xfrm>
          <a:prstGeom prst="rect">
            <a:avLst/>
          </a:prstGeom>
          <a:noFill/>
          <a:ln/>
        </p:spPr>
        <p:txBody>
          <a:bodyPr wrap="square" lIns="0" tIns="0" rIns="0" bIns="0" rtlCol="0" anchor="ctr">
            <a:normAutofit/>
          </a:bodyPr>
          <a:lstStyle/>
          <a:p>
            <a:pPr indent="0" marL="0">
              <a:buNone/>
            </a:pPr>
            <a:r>
              <a:rPr lang="en-US" sz="1200" b="1" dirty="0">
                <a:solidFill>
                  <a:srgbClr val="111111"/>
                </a:solidFill>
                <a:latin typeface="Arial" pitchFamily="34" charset="0"/>
                <a:ea typeface="Arial" pitchFamily="34" charset="-122"/>
                <a:cs typeface="Arial" pitchFamily="34" charset="-120"/>
              </a:rPr>
              <a:t>F1 = 91.26%</a:t>
            </a:r>
            <a:endParaRPr lang="en-US" sz="1200" dirty="0"/>
          </a:p>
        </p:txBody>
      </p:sp>
      <p:sp>
        <p:nvSpPr>
          <p:cNvPr id="18" name="Text 16"/>
          <p:cNvSpPr/>
          <p:nvPr/>
        </p:nvSpPr>
        <p:spPr>
          <a:xfrm>
            <a:off x="6336792" y="3218688"/>
            <a:ext cx="1783080" cy="292608"/>
          </a:xfrm>
          <a:prstGeom prst="rect">
            <a:avLst/>
          </a:prstGeom>
          <a:noFill/>
          <a:ln/>
        </p:spPr>
        <p:txBody>
          <a:bodyPr wrap="square" lIns="0" tIns="0" rIns="0" bIns="0" rtlCol="0" anchor="ctr">
            <a:normAutofit/>
          </a:bodyPr>
          <a:lstStyle/>
          <a:p>
            <a:pPr indent="0" marL="0">
              <a:buNone/>
            </a:pPr>
            <a:r>
              <a:rPr lang="en-US" sz="1030" dirty="0">
                <a:solidFill>
                  <a:srgbClr val="666666"/>
                </a:solidFill>
                <a:latin typeface="Arial" pitchFamily="34" charset="0"/>
                <a:ea typeface="Arial" pitchFamily="34" charset="-122"/>
                <a:cs typeface="Arial" pitchFamily="34" charset="-120"/>
              </a:rPr>
              <a:t>68 cases confused as pattern 0</a:t>
            </a:r>
            <a:endParaRPr lang="en-US" sz="1030" dirty="0"/>
          </a:p>
        </p:txBody>
      </p:sp>
      <p:sp>
        <p:nvSpPr>
          <p:cNvPr id="19" name="Shape 17"/>
          <p:cNvSpPr/>
          <p:nvPr/>
        </p:nvSpPr>
        <p:spPr>
          <a:xfrm>
            <a:off x="8823960" y="1874520"/>
            <a:ext cx="2423160" cy="1874520"/>
          </a:xfrm>
          <a:prstGeom prst="roundRect">
            <a:avLst>
              <a:gd name="adj" fmla="val 3902"/>
            </a:avLst>
          </a:prstGeom>
          <a:solidFill>
            <a:srgbClr val="F6F9FC"/>
          </a:solidFill>
          <a:ln w="12700">
            <a:solidFill>
              <a:srgbClr val="DDE4EA"/>
            </a:solidFill>
            <a:prstDash val="solid"/>
          </a:ln>
        </p:spPr>
      </p:sp>
      <p:sp>
        <p:nvSpPr>
          <p:cNvPr id="20" name="Text 18"/>
          <p:cNvSpPr/>
          <p:nvPr/>
        </p:nvSpPr>
        <p:spPr>
          <a:xfrm>
            <a:off x="9034272" y="2121408"/>
            <a:ext cx="1463040" cy="182880"/>
          </a:xfrm>
          <a:prstGeom prst="rect">
            <a:avLst/>
          </a:prstGeom>
          <a:noFill/>
          <a:ln/>
        </p:spPr>
        <p:txBody>
          <a:bodyPr wrap="square" lIns="0" tIns="0" rIns="0" bIns="0" rtlCol="0" anchor="ctr">
            <a:normAutofit/>
          </a:bodyPr>
          <a:lstStyle/>
          <a:p>
            <a:pPr indent="0" marL="0">
              <a:buNone/>
            </a:pPr>
            <a:r>
              <a:rPr lang="en-US" sz="750" b="1" dirty="0">
                <a:solidFill>
                  <a:srgbClr val="005293"/>
                </a:solidFill>
                <a:latin typeface="Arial" pitchFamily="34" charset="0"/>
                <a:ea typeface="Arial" pitchFamily="34" charset="-122"/>
                <a:cs typeface="Arial" pitchFamily="34" charset="-120"/>
              </a:rPr>
              <a:t>ERROR PROFILE</a:t>
            </a:r>
            <a:endParaRPr lang="en-US" sz="750" dirty="0"/>
          </a:p>
        </p:txBody>
      </p:sp>
      <p:sp>
        <p:nvSpPr>
          <p:cNvPr id="21" name="Text 19"/>
          <p:cNvSpPr/>
          <p:nvPr/>
        </p:nvSpPr>
        <p:spPr>
          <a:xfrm>
            <a:off x="9034272" y="2487168"/>
            <a:ext cx="1645920" cy="310896"/>
          </a:xfrm>
          <a:prstGeom prst="rect">
            <a:avLst/>
          </a:prstGeom>
          <a:noFill/>
          <a:ln/>
        </p:spPr>
        <p:txBody>
          <a:bodyPr wrap="square" lIns="0" tIns="0" rIns="0" bIns="0" rtlCol="0" anchor="ctr">
            <a:normAutofit/>
          </a:bodyPr>
          <a:lstStyle/>
          <a:p>
            <a:pPr indent="0" marL="0">
              <a:buNone/>
            </a:pPr>
            <a:r>
              <a:rPr lang="en-US" sz="1800" b="1" dirty="0">
                <a:solidFill>
                  <a:srgbClr val="111111"/>
                </a:solidFill>
                <a:latin typeface="Arial" pitchFamily="34" charset="0"/>
                <a:ea typeface="Arial" pitchFamily="34" charset="-122"/>
                <a:cs typeface="Arial" pitchFamily="34" charset="-120"/>
              </a:rPr>
              <a:t>108 / 7,341</a:t>
            </a:r>
            <a:endParaRPr lang="en-US" sz="1800" dirty="0"/>
          </a:p>
        </p:txBody>
      </p:sp>
      <p:sp>
        <p:nvSpPr>
          <p:cNvPr id="22" name="Text 20"/>
          <p:cNvSpPr/>
          <p:nvPr/>
        </p:nvSpPr>
        <p:spPr>
          <a:xfrm>
            <a:off x="9034272" y="2834640"/>
            <a:ext cx="1325880" cy="201168"/>
          </a:xfrm>
          <a:prstGeom prst="rect">
            <a:avLst/>
          </a:prstGeom>
          <a:noFill/>
          <a:ln/>
        </p:spPr>
        <p:txBody>
          <a:bodyPr wrap="square" lIns="0" tIns="0" rIns="0" bIns="0" rtlCol="0" anchor="ctr">
            <a:normAutofit/>
          </a:bodyPr>
          <a:lstStyle/>
          <a:p>
            <a:pPr indent="0" marL="0">
              <a:buNone/>
            </a:pPr>
            <a:r>
              <a:rPr lang="en-US" sz="980" dirty="0">
                <a:solidFill>
                  <a:srgbClr val="666666"/>
                </a:solidFill>
                <a:latin typeface="Arial" pitchFamily="34" charset="0"/>
                <a:ea typeface="Arial" pitchFamily="34" charset="-122"/>
                <a:cs typeface="Arial" pitchFamily="34" charset="-120"/>
              </a:rPr>
              <a:t>validation errors</a:t>
            </a:r>
            <a:endParaRPr lang="en-US" sz="980" dirty="0"/>
          </a:p>
        </p:txBody>
      </p:sp>
      <p:sp>
        <p:nvSpPr>
          <p:cNvPr id="23" name="Text 21"/>
          <p:cNvSpPr/>
          <p:nvPr/>
        </p:nvSpPr>
        <p:spPr>
          <a:xfrm>
            <a:off x="9034272" y="3200400"/>
            <a:ext cx="1783080" cy="274320"/>
          </a:xfrm>
          <a:prstGeom prst="rect">
            <a:avLst/>
          </a:prstGeom>
          <a:noFill/>
          <a:ln/>
        </p:spPr>
        <p:txBody>
          <a:bodyPr wrap="square" lIns="0" tIns="0" rIns="0" bIns="0" rtlCol="0" anchor="ctr">
            <a:normAutofit/>
          </a:bodyPr>
          <a:lstStyle/>
          <a:p>
            <a:pPr indent="0" marL="0">
              <a:buNone/>
            </a:pPr>
            <a:r>
              <a:rPr lang="en-US" sz="1030" dirty="0">
                <a:solidFill>
                  <a:srgbClr val="111111"/>
                </a:solidFill>
                <a:latin typeface="Arial" pitchFamily="34" charset="0"/>
                <a:ea typeface="Arial" pitchFamily="34" charset="-122"/>
                <a:cs typeface="Arial" pitchFamily="34" charset="-120"/>
              </a:rPr>
              <a:t>Most other classes are close to perfect.</a:t>
            </a:r>
            <a:endParaRPr lang="en-US" sz="1030" dirty="0"/>
          </a:p>
        </p:txBody>
      </p:sp>
      <p:sp>
        <p:nvSpPr>
          <p:cNvPr id="24" name="Shape 22"/>
          <p:cNvSpPr/>
          <p:nvPr/>
        </p:nvSpPr>
        <p:spPr>
          <a:xfrm>
            <a:off x="868680" y="4297680"/>
            <a:ext cx="10378440" cy="0"/>
          </a:xfrm>
          <a:prstGeom prst="line">
            <a:avLst/>
          </a:prstGeom>
          <a:noFill/>
          <a:ln w="12700">
            <a:solidFill>
              <a:srgbClr val="DDE4EA"/>
            </a:solidFill>
            <a:prstDash val="solid"/>
          </a:ln>
        </p:spPr>
      </p:sp>
      <p:sp>
        <p:nvSpPr>
          <p:cNvPr id="25" name="Text 23"/>
          <p:cNvSpPr/>
          <p:nvPr/>
        </p:nvSpPr>
        <p:spPr>
          <a:xfrm>
            <a:off x="868680" y="4526280"/>
            <a:ext cx="1463040" cy="182880"/>
          </a:xfrm>
          <a:prstGeom prst="rect">
            <a:avLst/>
          </a:prstGeom>
          <a:noFill/>
          <a:ln/>
        </p:spPr>
        <p:txBody>
          <a:bodyPr wrap="square" lIns="0" tIns="0" rIns="0" bIns="0" rtlCol="0" anchor="ctr">
            <a:normAutofit/>
          </a:bodyPr>
          <a:lstStyle/>
          <a:p>
            <a:pPr indent="0" marL="0">
              <a:buNone/>
            </a:pPr>
            <a:r>
              <a:rPr lang="en-US" sz="750" b="1" dirty="0">
                <a:solidFill>
                  <a:srgbClr val="008575"/>
                </a:solidFill>
                <a:latin typeface="Arial" pitchFamily="34" charset="0"/>
                <a:ea typeface="Arial" pitchFamily="34" charset="-122"/>
                <a:cs typeface="Arial" pitchFamily="34" charset="-120"/>
              </a:rPr>
              <a:t>INTERPRETATION</a:t>
            </a:r>
            <a:endParaRPr lang="en-US" sz="750" dirty="0"/>
          </a:p>
        </p:txBody>
      </p:sp>
      <p:sp>
        <p:nvSpPr>
          <p:cNvPr id="26" name="Text 24"/>
          <p:cNvSpPr/>
          <p:nvPr/>
        </p:nvSpPr>
        <p:spPr>
          <a:xfrm>
            <a:off x="868680" y="4846320"/>
            <a:ext cx="5394960" cy="292608"/>
          </a:xfrm>
          <a:prstGeom prst="rect">
            <a:avLst/>
          </a:prstGeom>
          <a:noFill/>
          <a:ln/>
        </p:spPr>
        <p:txBody>
          <a:bodyPr wrap="square" lIns="0" tIns="0" rIns="0" bIns="0" rtlCol="0" anchor="ctr">
            <a:normAutofit/>
          </a:bodyPr>
          <a:lstStyle/>
          <a:p>
            <a:pPr indent="0" marL="0">
              <a:buNone/>
            </a:pPr>
            <a:r>
              <a:rPr lang="en-US" sz="1400" b="1" dirty="0">
                <a:solidFill>
                  <a:srgbClr val="111111"/>
                </a:solidFill>
                <a:latin typeface="Arial" pitchFamily="34" charset="0"/>
                <a:ea typeface="Arial" pitchFamily="34" charset="-122"/>
                <a:cs typeface="Arial" pitchFamily="34" charset="-120"/>
              </a:rPr>
              <a:t>The stimulation identity is strongly encoded in the spatial-temporal population response.</a:t>
            </a:r>
            <a:endParaRPr lang="en-US" sz="1400" dirty="0"/>
          </a:p>
        </p:txBody>
      </p:sp>
      <p:sp>
        <p:nvSpPr>
          <p:cNvPr id="27" name="Text 25"/>
          <p:cNvSpPr/>
          <p:nvPr/>
        </p:nvSpPr>
        <p:spPr>
          <a:xfrm>
            <a:off x="6537960" y="4864608"/>
            <a:ext cx="3977640" cy="256032"/>
          </a:xfrm>
          <a:prstGeom prst="rect">
            <a:avLst/>
          </a:prstGeom>
          <a:noFill/>
          <a:ln/>
        </p:spPr>
        <p:txBody>
          <a:bodyPr wrap="square" lIns="0" tIns="0" rIns="0" bIns="0" rtlCol="0" anchor="ctr">
            <a:normAutofit/>
          </a:bodyPr>
          <a:lstStyle/>
          <a:p>
            <a:pPr indent="0" marL="0">
              <a:buNone/>
            </a:pPr>
            <a:r>
              <a:rPr lang="en-US" sz="1150" dirty="0">
                <a:solidFill>
                  <a:srgbClr val="666666"/>
                </a:solidFill>
                <a:latin typeface="Arial" pitchFamily="34" charset="0"/>
                <a:ea typeface="Arial" pitchFamily="34" charset="-122"/>
                <a:cs typeface="Arial" pitchFamily="34" charset="-120"/>
              </a:rPr>
              <a:t>Limitation: validation is within-recording, not cross-network.</a:t>
            </a:r>
            <a:endParaRPr lang="en-US" sz="1150" dirty="0"/>
          </a:p>
        </p:txBody>
      </p:sp>
      <p:pic>
        <p:nvPicPr>
          <p:cNvPr id="28" name="Image 0" descr="/Users/adrian/Desktop/P&amp;S/outputs/presentation_assets/eth_image1.png">    </p:cNvPr>
          <p:cNvPicPr>
            <a:picLocks noChangeAspect="1"/>
          </p:cNvPicPr>
          <p:nvPr/>
        </p:nvPicPr>
        <p:blipFill>
          <a:blip r:embed="rId1"/>
          <a:stretch>
            <a:fillRect/>
          </a:stretch>
        </p:blipFill>
        <p:spPr>
          <a:xfrm>
            <a:off x="566928" y="6355080"/>
            <a:ext cx="1143000" cy="187452"/>
          </a:xfrm>
          <a:prstGeom prst="rect">
            <a:avLst/>
          </a:prstGeom>
        </p:spPr>
      </p:pic>
      <p:sp>
        <p:nvSpPr>
          <p:cNvPr id="29" name="Text 26"/>
          <p:cNvSpPr/>
          <p:nvPr/>
        </p:nvSpPr>
        <p:spPr>
          <a:xfrm>
            <a:off x="2331720" y="6345936"/>
            <a:ext cx="3840480" cy="228600"/>
          </a:xfrm>
          <a:prstGeom prst="rect">
            <a:avLst/>
          </a:prstGeom>
          <a:noFill/>
          <a:ln/>
        </p:spPr>
        <p:txBody>
          <a:bodyPr wrap="square" lIns="0" tIns="0" rIns="0" bIns="0" rtlCol="0" anchor="ctr"/>
          <a:lstStyle/>
          <a:p>
            <a:pPr indent="0" marL="0">
              <a:buNone/>
            </a:pPr>
            <a:r>
              <a:rPr lang="en-US" sz="850" dirty="0">
                <a:solidFill>
                  <a:srgbClr val="111111"/>
                </a:solidFill>
                <a:latin typeface="Arial" pitchFamily="34" charset="0"/>
                <a:ea typeface="Arial" pitchFamily="34" charset="-122"/>
                <a:cs typeface="Arial" pitchFamily="34" charset="-120"/>
              </a:rPr>
              <a:t>Group 4 · Task 1 Decoding</a:t>
            </a:r>
            <a:endParaRPr lang="en-US" sz="850" dirty="0"/>
          </a:p>
        </p:txBody>
      </p:sp>
      <p:sp>
        <p:nvSpPr>
          <p:cNvPr id="30" name="Text 27"/>
          <p:cNvSpPr/>
          <p:nvPr/>
        </p:nvSpPr>
        <p:spPr>
          <a:xfrm>
            <a:off x="11201400" y="6345936"/>
            <a:ext cx="228600" cy="228600"/>
          </a:xfrm>
          <a:prstGeom prst="rect">
            <a:avLst/>
          </a:prstGeom>
          <a:noFill/>
          <a:ln/>
        </p:spPr>
        <p:txBody>
          <a:bodyPr wrap="square" lIns="0" tIns="0" rIns="0" bIns="0" rtlCol="0" anchor="ctr"/>
          <a:lstStyle/>
          <a:p>
            <a:pPr algn="r" indent="0" marL="0">
              <a:buNone/>
            </a:pPr>
            <a:r>
              <a:rPr lang="en-US" sz="850" dirty="0">
                <a:solidFill>
                  <a:srgbClr val="111111"/>
                </a:solidFill>
                <a:latin typeface="Arial" pitchFamily="34" charset="0"/>
                <a:ea typeface="Arial" pitchFamily="34" charset="-122"/>
                <a:cs typeface="Arial" pitchFamily="34" charset="-120"/>
              </a:rPr>
              <a:t>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822960" y="502920"/>
            <a:ext cx="10012680" cy="502920"/>
          </a:xfrm>
          <a:prstGeom prst="rect">
            <a:avLst/>
          </a:prstGeom>
          <a:noFill/>
          <a:ln/>
        </p:spPr>
        <p:txBody>
          <a:bodyPr wrap="square" lIns="0" tIns="0" rIns="0" bIns="0" rtlCol="0" anchor="ctr">
            <a:normAutofit/>
          </a:bodyPr>
          <a:lstStyle/>
          <a:p>
            <a:pPr indent="0" marL="0" algn="l">
              <a:buNone/>
            </a:pPr>
            <a:r>
              <a:rPr lang="en-US" sz="2900" b="1" dirty="0">
                <a:solidFill>
                  <a:srgbClr val="111111"/>
                </a:solidFill>
                <a:latin typeface="Arial" pitchFamily="34" charset="0"/>
                <a:ea typeface="Arial" pitchFamily="34" charset="-122"/>
                <a:cs typeface="Arial" pitchFamily="34" charset="-120"/>
              </a:rPr>
              <a:t>Task 2: predicting spike responses</a:t>
            </a:r>
            <a:endParaRPr lang="en-US" sz="2900" dirty="0"/>
          </a:p>
        </p:txBody>
      </p:sp>
      <p:sp>
        <p:nvSpPr>
          <p:cNvPr id="3" name="Subtitle"/>
          <p:cNvSpPr/>
          <p:nvPr/>
        </p:nvSpPr>
        <p:spPr>
          <a:xfrm>
            <a:off x="850392" y="1069848"/>
            <a:ext cx="10012680" cy="256032"/>
          </a:xfrm>
          <a:prstGeom prst="rect">
            <a:avLst/>
          </a:prstGeom>
          <a:noFill/>
          <a:ln/>
        </p:spPr>
        <p:txBody>
          <a:bodyPr wrap="square" lIns="0" tIns="0" rIns="0" bIns="0" rtlCol="0" anchor="ctr">
            <a:normAutofit/>
          </a:bodyPr>
          <a:lstStyle/>
          <a:p>
            <a:pPr indent="0" marL="0" algn="l">
              <a:buNone/>
            </a:pPr>
            <a:r>
              <a:rPr lang="en-US" sz="1200" dirty="0">
                <a:solidFill>
                  <a:srgbClr val="666666"/>
                </a:solidFill>
                <a:latin typeface="Arial" pitchFamily="34" charset="0"/>
                <a:ea typeface="Arial" pitchFamily="34" charset="-122"/>
                <a:cs typeface="Arial" pitchFamily="34" charset="-120"/>
              </a:rPr>
              <a:t>Predict the full binned spike-train response for hidden stimulation trials.</a:t>
            </a:r>
            <a:endParaRPr lang="en-US" sz="1200" dirty="0"/>
          </a:p>
        </p:txBody>
      </p:sp>
      <p:sp>
        <p:nvSpPr>
          <p:cNvPr id="4" name="Divider"/>
          <p:cNvSpPr/>
          <p:nvPr/>
        </p:nvSpPr>
        <p:spPr>
          <a:xfrm>
            <a:off x="822960" y="1417320"/>
            <a:ext cx="10607040" cy="0"/>
          </a:xfrm>
          <a:prstGeom prst="line">
            <a:avLst/>
          </a:prstGeom>
          <a:noFill/>
          <a:ln w="12700">
            <a:solidFill>
              <a:srgbClr val="E5E5E5"/>
            </a:solidFill>
          </a:ln>
        </p:spPr>
      </p:sp>
      <p:sp>
        <p:nvSpPr>
          <p:cNvPr id="5" name="Input label"/>
          <p:cNvSpPr/>
          <p:nvPr/>
        </p:nvSpPr>
        <p:spPr>
          <a:xfrm>
            <a:off x="868680" y="1783080"/>
            <a:ext cx="2400000" cy="182880"/>
          </a:xfrm>
          <a:prstGeom prst="rect">
            <a:avLst/>
          </a:prstGeom>
          <a:noFill/>
          <a:ln/>
        </p:spPr>
        <p:txBody>
          <a:bodyPr wrap="square" lIns="0" tIns="0" rIns="0" bIns="0" rtlCol="0" anchor="ctr">
            <a:normAutofit/>
          </a:bodyPr>
          <a:lstStyle/>
          <a:p>
            <a:pPr indent="0" marL="0" algn="l">
              <a:buNone/>
            </a:pPr>
            <a:r>
              <a:rPr lang="en-US" sz="1100" b="1" dirty="0">
                <a:solidFill>
                  <a:srgbClr val="1F4E79"/>
                </a:solidFill>
                <a:latin typeface="Arial" pitchFamily="34" charset="0"/>
                <a:ea typeface="Arial" pitchFamily="34" charset="-122"/>
                <a:cs typeface="Arial" pitchFamily="34" charset="-120"/>
              </a:rPr>
              <a:t>TASK 2 INPUT</a:t>
            </a:r>
            <a:endParaRPr lang="en-US" sz="1100" dirty="0"/>
          </a:p>
        </p:txBody>
      </p:sp>
      <p:pic>
        <p:nvPicPr>
          <p:cNvPr id="6" name="Spatial true vs predicted"/>
          <p:cNvPicPr>
            <a:picLocks noChangeAspect="1"/>
          </p:cNvPicPr>
          <p:nvPr/>
        </p:nvPicPr>
        <p:blipFill>
          <a:blip r:embed="rId1"/>
          <a:stretch>
            <a:fillRect/>
          </a:stretch>
        </p:blipFill>
        <p:spPr>
          <a:xfrm>
            <a:off x="868680" y="2029968"/>
            <a:ext cx="4510000" cy="2013000"/>
          </a:xfrm>
          <a:prstGeom prst="rect">
            <a:avLst/>
          </a:prstGeom>
        </p:spPr>
      </p:pic>
      <p:sp>
        <p:nvSpPr>
          <p:cNvPr id="7" name="Input details"/>
          <p:cNvSpPr/>
          <p:nvPr/>
        </p:nvSpPr>
        <p:spPr>
          <a:xfrm>
            <a:off x="868680" y="4200000"/>
            <a:ext cx="4510000" cy="548000"/>
          </a:xfrm>
          <a:prstGeom prst="rect">
            <a:avLst/>
          </a:prstGeom>
          <a:noFill/>
          <a:ln/>
        </p:spPr>
        <p:txBody>
          <a:bodyPr wrap="square" lIns="0" tIns="0" rIns="0" bIns="0" rtlCol="0" anchor="ctr">
            <a:normAutofit/>
          </a:bodyPr>
          <a:lstStyle/>
          <a:p>
            <a:pPr indent="0" marL="0" algn="l">
              <a:buNone/>
            </a:pPr>
            <a:r>
              <a:rPr lang="en-US" sz="1200" dirty="0">
                <a:solidFill>
                  <a:srgbClr val="333333"/>
                </a:solidFill>
                <a:latin typeface="Arial" pitchFamily="34" charset="0"/>
                <a:ea typeface="Arial" pitchFamily="34" charset="-122"/>
                <a:cs typeface="Arial" pitchFamily="34" charset="-120"/>
              </a:rPr>
              <a:t>pattern ID + frequency</a:t>
            </a:r>
            <a:endParaRPr lang="en-US" sz="1200" dirty="0"/>
          </a:p>
          <a:p>
            <a:pPr indent="0" marL="0" algn="l">
              <a:buNone/>
            </a:pPr>
            <a:r>
              <a:rPr lang="en-US" sz="1200" dirty="0">
                <a:solidFill>
                  <a:srgbClr val="333333"/>
                </a:solidFill>
                <a:latin typeface="Arial" pitchFamily="34" charset="0"/>
                <a:ea typeface="Arial" pitchFamily="34" charset="-122"/>
                <a:cs typeface="Arial" pitchFamily="34" charset="-120"/>
              </a:rPr>
              <a:t>24-step causal stimulation history</a:t>
            </a:r>
            <a:endParaRPr lang="en-US" sz="1200" dirty="0"/>
          </a:p>
          <a:p>
            <a:pPr indent="0" marL="0" algn="l">
              <a:buNone/>
            </a:pPr>
            <a:r>
              <a:rPr lang="en-US" sz="1200" dirty="0">
                <a:solidFill>
                  <a:srgbClr val="333333"/>
                </a:solidFill>
                <a:latin typeface="Arial" pitchFamily="34" charset="0"/>
                <a:ea typeface="Arial" pitchFamily="34" charset="-122"/>
                <a:cs typeface="Arial" pitchFamily="34" charset="-120"/>
              </a:rPr>
              <a:t>electrode coordinates and train-only rates</a:t>
            </a:r>
            <a:endParaRPr lang="en-US" sz="1200" dirty="0"/>
          </a:p>
        </p:txBody>
      </p:sp>
      <p:sp>
        <p:nvSpPr>
          <p:cNvPr id="8" name="Arrow 1"/>
          <p:cNvSpPr/>
          <p:nvPr/>
        </p:nvSpPr>
        <p:spPr>
          <a:xfrm>
            <a:off x="5570000" y="3020000"/>
            <a:ext cx="650000" cy="0"/>
          </a:xfrm>
          <a:prstGeom prst="line">
            <a:avLst/>
          </a:prstGeom>
          <a:noFill/>
          <a:ln w="19050">
            <a:solidFill>
              <a:srgbClr val="B8C2CC"/>
            </a:solidFill>
          </a:ln>
        </p:spPr>
      </p:sp>
      <p:sp>
        <p:nvSpPr>
          <p:cNvPr id="9" name="Decoder box"/>
          <p:cNvSpPr/>
          <p:nvPr/>
        </p:nvSpPr>
        <p:spPr>
          <a:xfrm>
            <a:off x="6400000" y="2400000"/>
            <a:ext cx="1420000" cy="1120000"/>
          </a:xfrm>
          <a:prstGeom prst="rect">
            <a:avLst/>
          </a:prstGeom>
          <a:solidFill>
            <a:srgbClr val="EEF6F3"/>
          </a:solidFill>
          <a:ln w="12700">
            <a:solidFill>
              <a:srgbClr val="BFD8CE"/>
            </a:solidFill>
          </a:ln>
        </p:spPr>
      </p:sp>
      <p:sp>
        <p:nvSpPr>
          <p:cNvPr id="10" name="Decoder text"/>
          <p:cNvSpPr/>
          <p:nvPr/>
        </p:nvSpPr>
        <p:spPr>
          <a:xfrm>
            <a:off x="6530000" y="2660000"/>
            <a:ext cx="1160000" cy="520000"/>
          </a:xfrm>
          <a:prstGeom prst="rect">
            <a:avLst/>
          </a:prstGeom>
          <a:noFill/>
          <a:ln/>
        </p:spPr>
        <p:txBody>
          <a:bodyPr wrap="square" lIns="0" tIns="0" rIns="0" bIns="0" rtlCol="0" anchor="ctr">
            <a:normAutofit/>
          </a:bodyPr>
          <a:lstStyle/>
          <a:p>
            <a:pPr indent="0" marL="0" algn="c">
              <a:buNone/>
            </a:pPr>
            <a:r>
              <a:rPr lang="en-US" sz="1500" b="1" dirty="0">
                <a:solidFill>
                  <a:srgbClr val="1B4D3E"/>
                </a:solidFill>
                <a:latin typeface="Arial" pitchFamily="34" charset="0"/>
                <a:ea typeface="Arial" pitchFamily="34" charset="-122"/>
                <a:cs typeface="Arial" pitchFamily="34" charset="-120"/>
              </a:rPr>
              <a:t>graph</a:t>
            </a:r>
            <a:endParaRPr lang="en-US" sz="1500" dirty="0"/>
          </a:p>
          <a:p>
            <a:pPr indent="0" marL="0" algn="c">
              <a:buNone/>
            </a:pPr>
            <a:r>
              <a:rPr lang="en-US" sz="1500" b="1" dirty="0">
                <a:solidFill>
                  <a:srgbClr val="1B4D3E"/>
                </a:solidFill>
                <a:latin typeface="Arial" pitchFamily="34" charset="0"/>
                <a:ea typeface="Arial" pitchFamily="34" charset="-122"/>
                <a:cs typeface="Arial" pitchFamily="34" charset="-120"/>
              </a:rPr>
              <a:t>PSTH</a:t>
            </a:r>
            <a:endParaRPr lang="en-US" sz="1500" dirty="0"/>
          </a:p>
          <a:p>
            <a:pPr indent="0" marL="0" algn="c">
              <a:buNone/>
            </a:pPr>
            <a:r>
              <a:rPr lang="en-US" sz="1500" b="1" dirty="0">
                <a:solidFill>
                  <a:srgbClr val="1B4D3E"/>
                </a:solidFill>
                <a:latin typeface="Arial" pitchFamily="34" charset="0"/>
                <a:ea typeface="Arial" pitchFamily="34" charset="-122"/>
                <a:cs typeface="Arial" pitchFamily="34" charset="-120"/>
              </a:rPr>
              <a:t>decoder</a:t>
            </a:r>
            <a:endParaRPr lang="en-US" sz="1500" dirty="0"/>
          </a:p>
        </p:txBody>
      </p:sp>
      <p:sp>
        <p:nvSpPr>
          <p:cNvPr id="11" name="Arrow 2"/>
          <p:cNvSpPr/>
          <p:nvPr/>
        </p:nvSpPr>
        <p:spPr>
          <a:xfrm>
            <a:off x="8000000" y="3020000"/>
            <a:ext cx="650000" cy="0"/>
          </a:xfrm>
          <a:prstGeom prst="line">
            <a:avLst/>
          </a:prstGeom>
          <a:noFill/>
          <a:ln w="19050">
            <a:solidFill>
              <a:srgbClr val="B8C2CC"/>
            </a:solidFill>
          </a:ln>
        </p:spPr>
      </p:sp>
      <p:sp>
        <p:nvSpPr>
          <p:cNvPr id="12" name="Output box"/>
          <p:cNvSpPr/>
          <p:nvPr/>
        </p:nvSpPr>
        <p:spPr>
          <a:xfrm>
            <a:off x="8850000" y="2300000"/>
            <a:ext cx="2360000" cy="1320000"/>
          </a:xfrm>
          <a:prstGeom prst="rect">
            <a:avLst/>
          </a:prstGeom>
          <a:solidFill>
            <a:srgbClr val="F8F5EF"/>
          </a:solidFill>
          <a:ln w="12700">
            <a:solidFill>
              <a:srgbClr val="E5C88C"/>
            </a:solidFill>
          </a:ln>
        </p:spPr>
      </p:sp>
      <p:sp>
        <p:nvSpPr>
          <p:cNvPr id="13" name="Output text"/>
          <p:cNvSpPr/>
          <p:nvPr/>
        </p:nvSpPr>
        <p:spPr>
          <a:xfrm>
            <a:off x="9020000" y="2540000"/>
            <a:ext cx="2020000" cy="520000"/>
          </a:xfrm>
          <a:prstGeom prst="rect">
            <a:avLst/>
          </a:prstGeom>
          <a:noFill/>
          <a:ln/>
        </p:spPr>
        <p:txBody>
          <a:bodyPr wrap="square" lIns="0" tIns="0" rIns="0" bIns="0" rtlCol="0" anchor="ctr">
            <a:normAutofit/>
          </a:bodyPr>
          <a:lstStyle/>
          <a:p>
            <a:pPr indent="0" marL="0" algn="c">
              <a:buNone/>
            </a:pPr>
            <a:r>
              <a:rPr lang="en-US" sz="1400" b="1" dirty="0">
                <a:solidFill>
                  <a:srgbClr val="4A3A14"/>
                </a:solidFill>
                <a:latin typeface="Arial" pitchFamily="34" charset="0"/>
                <a:ea typeface="Arial" pitchFamily="34" charset="-122"/>
                <a:cs typeface="Arial" pitchFamily="34" charset="-120"/>
              </a:rPr>
              <a:t>Y-hat response</a:t>
            </a:r>
            <a:endParaRPr lang="en-US" sz="1400" dirty="0"/>
          </a:p>
          <a:p>
            <a:pPr indent="0" marL="0" algn="c">
              <a:buNone/>
            </a:pPr>
            <a:r>
              <a:rPr lang="en-US" sz="1400" b="1" dirty="0">
                <a:solidFill>
                  <a:srgbClr val="4A3A14"/>
                </a:solidFill>
                <a:latin typeface="Arial" pitchFamily="34" charset="0"/>
                <a:ea typeface="Arial" pitchFamily="34" charset="-122"/>
                <a:cs typeface="Arial" pitchFamily="34" charset="-120"/>
              </a:rPr>
              <a:t>105 electrodes x 80 time bins</a:t>
            </a:r>
            <a:endParaRPr lang="en-US" sz="1400" dirty="0"/>
          </a:p>
        </p:txBody>
      </p:sp>
      <p:sp>
        <p:nvSpPr>
          <p:cNvPr id="14" name="Metric big"/>
          <p:cNvSpPr/>
          <p:nvPr/>
        </p:nvSpPr>
        <p:spPr>
          <a:xfrm>
            <a:off x="6263640" y="4315968"/>
            <a:ext cx="1371600" cy="420000"/>
          </a:xfrm>
          <a:prstGeom prst="rect">
            <a:avLst/>
          </a:prstGeom>
          <a:noFill/>
          <a:ln/>
        </p:spPr>
        <p:txBody>
          <a:bodyPr wrap="square" lIns="0" tIns="0" rIns="0" bIns="0" rtlCol="0" anchor="ctr">
            <a:normAutofit/>
          </a:bodyPr>
          <a:lstStyle/>
          <a:p>
            <a:pPr indent="0" marL="0" algn="c">
              <a:buNone/>
            </a:pPr>
            <a:r>
              <a:rPr lang="en-US" sz="2400" b="1" dirty="0">
                <a:solidFill>
                  <a:srgbClr val="111111"/>
                </a:solidFill>
                <a:latin typeface="Arial" pitchFamily="34" charset="0"/>
                <a:ea typeface="Arial" pitchFamily="34" charset="-122"/>
                <a:cs typeface="Arial" pitchFamily="34" charset="-120"/>
              </a:rPr>
              <a:t>16</a:t>
            </a:r>
            <a:endParaRPr lang="en-US" sz="2400" dirty="0"/>
          </a:p>
        </p:txBody>
      </p:sp>
      <p:sp>
        <p:nvSpPr>
          <p:cNvPr id="15" name="Metric small"/>
          <p:cNvSpPr/>
          <p:nvPr/>
        </p:nvSpPr>
        <p:spPr>
          <a:xfrm>
            <a:off x="6263640" y="4785000"/>
            <a:ext cx="1371600" cy="300000"/>
          </a:xfrm>
          <a:prstGeom prst="rect">
            <a:avLst/>
          </a:prstGeom>
          <a:noFill/>
          <a:ln/>
        </p:spPr>
        <p:txBody>
          <a:bodyPr wrap="square" lIns="0" tIns="0" rIns="0" bIns="0" rtlCol="0" anchor="ctr">
            <a:normAutofit/>
          </a:bodyPr>
          <a:lstStyle/>
          <a:p>
            <a:pPr indent="0" marL="0" algn="c">
              <a:buNone/>
            </a:pPr>
            <a:r>
              <a:rPr lang="en-US" sz="1050" dirty="0">
                <a:solidFill>
                  <a:srgbClr val="666666"/>
                </a:solidFill>
                <a:latin typeface="Arial" pitchFamily="34" charset="0"/>
                <a:ea typeface="Arial" pitchFamily="34" charset="-122"/>
                <a:cs typeface="Arial" pitchFamily="34" charset="-120"/>
              </a:rPr>
              <a:t>stimulation patterns</a:t>
            </a:r>
            <a:endParaRPr lang="en-US" sz="1050" dirty="0"/>
          </a:p>
        </p:txBody>
      </p:sp>
      <p:sp>
        <p:nvSpPr>
          <p:cNvPr id="16" name="Metric big"/>
          <p:cNvSpPr/>
          <p:nvPr/>
        </p:nvSpPr>
        <p:spPr>
          <a:xfrm>
            <a:off x="7813640" y="4315968"/>
            <a:ext cx="1371600" cy="420000"/>
          </a:xfrm>
          <a:prstGeom prst="rect">
            <a:avLst/>
          </a:prstGeom>
          <a:noFill/>
          <a:ln/>
        </p:spPr>
        <p:txBody>
          <a:bodyPr wrap="square" lIns="0" tIns="0" rIns="0" bIns="0" rtlCol="0" anchor="ctr">
            <a:normAutofit/>
          </a:bodyPr>
          <a:lstStyle/>
          <a:p>
            <a:pPr indent="0" marL="0" algn="c">
              <a:buNone/>
            </a:pPr>
            <a:r>
              <a:rPr lang="en-US" sz="2400" b="1" dirty="0">
                <a:solidFill>
                  <a:srgbClr val="111111"/>
                </a:solidFill>
                <a:latin typeface="Arial" pitchFamily="34" charset="0"/>
                <a:ea typeface="Arial" pitchFamily="34" charset="-122"/>
                <a:cs typeface="Arial" pitchFamily="34" charset="-120"/>
              </a:rPr>
              <a:t>34</a:t>
            </a:r>
            <a:endParaRPr lang="en-US" sz="2400" dirty="0"/>
          </a:p>
        </p:txBody>
      </p:sp>
      <p:sp>
        <p:nvSpPr>
          <p:cNvPr id="17" name="Metric small"/>
          <p:cNvSpPr/>
          <p:nvPr/>
        </p:nvSpPr>
        <p:spPr>
          <a:xfrm>
            <a:off x="7813640" y="4785000"/>
            <a:ext cx="1371600" cy="300000"/>
          </a:xfrm>
          <a:prstGeom prst="rect">
            <a:avLst/>
          </a:prstGeom>
          <a:noFill/>
          <a:ln/>
        </p:spPr>
        <p:txBody>
          <a:bodyPr wrap="square" lIns="0" tIns="0" rIns="0" bIns="0" rtlCol="0" anchor="ctr">
            <a:normAutofit/>
          </a:bodyPr>
          <a:lstStyle/>
          <a:p>
            <a:pPr indent="0" marL="0" algn="c">
              <a:buNone/>
            </a:pPr>
            <a:r>
              <a:rPr lang="en-US" sz="1050" dirty="0">
                <a:solidFill>
                  <a:srgbClr val="666666"/>
                </a:solidFill>
                <a:latin typeface="Arial" pitchFamily="34" charset="0"/>
                <a:ea typeface="Arial" pitchFamily="34" charset="-122"/>
                <a:cs typeface="Arial" pitchFamily="34" charset="-120"/>
              </a:rPr>
              <a:t>stimulation frequencies</a:t>
            </a:r>
            <a:endParaRPr lang="en-US" sz="1050" dirty="0"/>
          </a:p>
        </p:txBody>
      </p:sp>
      <p:sp>
        <p:nvSpPr>
          <p:cNvPr id="18" name="Metric big"/>
          <p:cNvSpPr/>
          <p:nvPr/>
        </p:nvSpPr>
        <p:spPr>
          <a:xfrm>
            <a:off x="9363640" y="4315968"/>
            <a:ext cx="1371600" cy="420000"/>
          </a:xfrm>
          <a:prstGeom prst="rect">
            <a:avLst/>
          </a:prstGeom>
          <a:noFill/>
          <a:ln/>
        </p:spPr>
        <p:txBody>
          <a:bodyPr wrap="square" lIns="0" tIns="0" rIns="0" bIns="0" rtlCol="0" anchor="ctr">
            <a:normAutofit/>
          </a:bodyPr>
          <a:lstStyle/>
          <a:p>
            <a:pPr indent="0" marL="0" algn="c">
              <a:buNone/>
            </a:pPr>
            <a:r>
              <a:rPr lang="en-US" sz="2400" b="1" dirty="0">
                <a:solidFill>
                  <a:srgbClr val="111111"/>
                </a:solidFill>
                <a:latin typeface="Arial" pitchFamily="34" charset="0"/>
                <a:ea typeface="Arial" pitchFamily="34" charset="-122"/>
                <a:cs typeface="Arial" pitchFamily="34" charset="-120"/>
              </a:rPr>
              <a:t>9,839</a:t>
            </a:r>
            <a:endParaRPr lang="en-US" sz="2400" dirty="0"/>
          </a:p>
        </p:txBody>
      </p:sp>
      <p:sp>
        <p:nvSpPr>
          <p:cNvPr id="19" name="Metric small"/>
          <p:cNvSpPr/>
          <p:nvPr/>
        </p:nvSpPr>
        <p:spPr>
          <a:xfrm>
            <a:off x="9363640" y="4785000"/>
            <a:ext cx="1371600" cy="300000"/>
          </a:xfrm>
          <a:prstGeom prst="rect">
            <a:avLst/>
          </a:prstGeom>
          <a:noFill/>
          <a:ln/>
        </p:spPr>
        <p:txBody>
          <a:bodyPr wrap="square" lIns="0" tIns="0" rIns="0" bIns="0" rtlCol="0" anchor="ctr">
            <a:normAutofit/>
          </a:bodyPr>
          <a:lstStyle/>
          <a:p>
            <a:pPr indent="0" marL="0" algn="c">
              <a:buNone/>
            </a:pPr>
            <a:r>
              <a:rPr lang="en-US" sz="1050" dirty="0">
                <a:solidFill>
                  <a:srgbClr val="666666"/>
                </a:solidFill>
                <a:latin typeface="Arial" pitchFamily="34" charset="0"/>
                <a:ea typeface="Arial" pitchFamily="34" charset="-122"/>
                <a:cs typeface="Arial" pitchFamily="34" charset="-120"/>
              </a:rPr>
              <a:t>hidden test trials</a:t>
            </a:r>
            <a:endParaRPr lang="en-US" sz="1050" dirty="0"/>
          </a:p>
        </p:txBody>
      </p:sp>
      <p:sp>
        <p:nvSpPr>
          <p:cNvPr id="21" name="Setting"/>
          <p:cNvSpPr/>
          <p:nvPr/>
        </p:nvSpPr>
        <p:spPr>
          <a:xfrm>
            <a:off x="6263640" y="5166360"/>
            <a:ext cx="5303520" cy="292608"/>
          </a:xfrm>
          <a:prstGeom prst="rect">
            <a:avLst/>
          </a:prstGeom>
          <a:noFill/>
          <a:ln/>
        </p:spPr>
        <p:txBody>
          <a:bodyPr wrap="square" lIns="0" tIns="0" rIns="0" bIns="0" rtlCol="0" anchor="ctr">
            <a:normAutofit/>
          </a:bodyPr>
          <a:lstStyle/>
          <a:p>
            <a:pPr indent="0" marL="0" algn="l">
              <a:buNone/>
            </a:pPr>
            <a:r>
              <a:rPr lang="en-US" sz="1150" dirty="0">
                <a:solidFill>
                  <a:srgbClr val="555555"/>
                </a:solidFill>
                <a:latin typeface="Arial" pitchFamily="34" charset="0"/>
                <a:ea typeface="Arial" pitchFamily="34" charset="-122"/>
                <a:cs typeface="Arial" pitchFamily="34" charset="-120"/>
              </a:rPr>
              <a:t>Final setting: network 5, DIV 40, shared final data; held-out test has no response targets.</a:t>
            </a:r>
            <a:endParaRPr lang="en-US" sz="1150" dirty="0"/>
          </a:p>
        </p:txBody>
      </p:sp>
      <p:pic>
        <p:nvPicPr>
          <p:cNvPr id="22" name="Image footer logo"/>
          <p:cNvPicPr>
            <a:picLocks noChangeAspect="1"/>
          </p:cNvPicPr>
          <p:nvPr/>
        </p:nvPicPr>
        <p:blipFill>
          <a:blip r:embed="rId2"/>
          <a:stretch>
            <a:fillRect/>
          </a:stretch>
        </p:blipFill>
        <p:spPr>
          <a:xfrm>
            <a:off x="566928" y="6355080"/>
            <a:ext cx="1143000" cy="187452"/>
          </a:xfrm>
          <a:prstGeom prst="rect">
            <a:avLst/>
          </a:prstGeom>
        </p:spPr>
      </p:pic>
      <p:sp>
        <p:nvSpPr>
          <p:cNvPr id="23" name="Footer"/>
          <p:cNvSpPr/>
          <p:nvPr/>
        </p:nvSpPr>
        <p:spPr>
          <a:xfrm>
            <a:off x="2331720" y="6345936"/>
            <a:ext cx="3840480" cy="228600"/>
          </a:xfrm>
          <a:prstGeom prst="rect">
            <a:avLst/>
          </a:prstGeom>
          <a:noFill/>
          <a:ln/>
        </p:spPr>
        <p:txBody>
          <a:bodyPr wrap="square" lIns="0" tIns="0" rIns="0" bIns="0" rtlCol="0" anchor="ctr">
            <a:normAutofit/>
          </a:bodyPr>
          <a:lstStyle/>
          <a:p>
            <a:pPr indent="0" marL="0" algn="l">
              <a:buNone/>
            </a:pPr>
            <a:r>
              <a:rPr lang="en-US" sz="1200" dirty="0">
                <a:solidFill>
                  <a:srgbClr val="777777"/>
                </a:solidFill>
                <a:latin typeface="Arial" pitchFamily="34" charset="0"/>
                <a:ea typeface="Arial" pitchFamily="34" charset="-122"/>
                <a:cs typeface="Arial" pitchFamily="34" charset="-120"/>
              </a:rPr>
              <a:t>Group 4 · Task 2 Prediction</a:t>
            </a:r>
            <a:endParaRPr lang="en-US" sz="1200" dirty="0"/>
          </a:p>
        </p:txBody>
      </p:sp>
      <p:sp>
        <p:nvSpPr>
          <p:cNvPr id="24" name="Slide number"/>
          <p:cNvSpPr/>
          <p:nvPr/>
        </p:nvSpPr>
        <p:spPr>
          <a:xfrm>
            <a:off x="11201400" y="6345936"/>
            <a:ext cx="228600" cy="228600"/>
          </a:xfrm>
          <a:prstGeom prst="rect">
            <a:avLst/>
          </a:prstGeom>
          <a:noFill/>
          <a:ln/>
        </p:spPr>
        <p:txBody>
          <a:bodyPr wrap="square" lIns="0" tIns="0" rIns="0" bIns="0" rtlCol="0" anchor="ctr">
            <a:normAutofit/>
          </a:bodyPr>
          <a:lstStyle/>
          <a:p>
            <a:pPr indent="0" marL="0" algn="r">
              <a:buNone/>
            </a:pPr>
            <a:r>
              <a:rPr lang="en-US" sz="1200" dirty="0">
                <a:solidFill>
                  <a:srgbClr val="777777"/>
                </a:solidFill>
                <a:latin typeface="Arial" pitchFamily="34" charset="0"/>
                <a:ea typeface="Arial" pitchFamily="34" charset="-122"/>
                <a:cs typeface="Arial"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822960" y="502920"/>
            <a:ext cx="10012680" cy="502920"/>
          </a:xfrm>
          <a:prstGeom prst="rect">
            <a:avLst/>
          </a:prstGeom>
          <a:noFill/>
          <a:ln/>
        </p:spPr>
        <p:txBody>
          <a:bodyPr wrap="square" lIns="0" tIns="0" rIns="0" bIns="0" rtlCol="0" anchor="ctr">
            <a:normAutofit/>
          </a:bodyPr>
          <a:lstStyle/>
          <a:p>
            <a:pPr indent="0" marL="0" algn="l">
              <a:buNone/>
            </a:pPr>
            <a:r>
              <a:rPr lang="en-US" sz="2900" b="1" dirty="0">
                <a:solidFill>
                  <a:srgbClr val="111111"/>
                </a:solidFill>
                <a:latin typeface="Arial" pitchFamily="34" charset="0"/>
                <a:ea typeface="Arial" pitchFamily="34" charset="-122"/>
                <a:cs typeface="Arial" pitchFamily="34" charset="-120"/>
              </a:rPr>
              <a:t>Model: metric-aligned adaptive graph PSTH</a:t>
            </a:r>
            <a:endParaRPr lang="en-US" sz="2900" dirty="0"/>
          </a:p>
        </p:txBody>
      </p:sp>
      <p:sp>
        <p:nvSpPr>
          <p:cNvPr id="3" name="Subtitle"/>
          <p:cNvSpPr/>
          <p:nvPr/>
        </p:nvSpPr>
        <p:spPr>
          <a:xfrm>
            <a:off x="850392" y="1069848"/>
            <a:ext cx="10012680" cy="256032"/>
          </a:xfrm>
          <a:prstGeom prst="rect">
            <a:avLst/>
          </a:prstGeom>
          <a:noFill/>
          <a:ln/>
        </p:spPr>
        <p:txBody>
          <a:bodyPr wrap="square" lIns="0" tIns="0" rIns="0" bIns="0" rtlCol="0" anchor="ctr">
            <a:normAutofit/>
          </a:bodyPr>
          <a:lstStyle/>
          <a:p>
            <a:pPr indent="0" marL="0" algn="l">
              <a:buNone/>
            </a:pPr>
            <a:r>
              <a:rPr lang="en-US" sz="1200" dirty="0">
                <a:solidFill>
                  <a:srgbClr val="666666"/>
                </a:solidFill>
                <a:latin typeface="Arial" pitchFamily="34" charset="0"/>
                <a:ea typeface="Arial" pitchFamily="34" charset="-122"/>
                <a:cs typeface="Arial" pitchFamily="34" charset="-120"/>
              </a:rPr>
              <a:t>A baseline-plus-residual decoder predicts electrode x time firing probability.</a:t>
            </a:r>
            <a:endParaRPr lang="en-US" sz="1200" dirty="0"/>
          </a:p>
        </p:txBody>
      </p:sp>
      <p:sp>
        <p:nvSpPr>
          <p:cNvPr id="4" name="Divider"/>
          <p:cNvSpPr/>
          <p:nvPr/>
        </p:nvSpPr>
        <p:spPr>
          <a:xfrm>
            <a:off x="822960" y="1417320"/>
            <a:ext cx="10607040" cy="0"/>
          </a:xfrm>
          <a:prstGeom prst="line">
            <a:avLst/>
          </a:prstGeom>
          <a:noFill/>
          <a:ln w="12700">
            <a:solidFill>
              <a:srgbClr val="E5E5E5"/>
            </a:solidFill>
          </a:ln>
        </p:spPr>
      </p:sp>
      <p:sp>
        <p:nvSpPr>
          <p:cNvPr id="5" name="Assumption label"/>
          <p:cNvSpPr/>
          <p:nvPr/>
        </p:nvSpPr>
        <p:spPr>
          <a:xfrm>
            <a:off x="868680" y="1783080"/>
            <a:ext cx="2194560" cy="182880"/>
          </a:xfrm>
          <a:prstGeom prst="rect">
            <a:avLst/>
          </a:prstGeom>
          <a:noFill/>
          <a:ln/>
        </p:spPr>
        <p:txBody>
          <a:bodyPr wrap="square" lIns="0" tIns="0" rIns="0" bIns="0" rtlCol="0" anchor="ctr">
            <a:normAutofit/>
          </a:bodyPr>
          <a:lstStyle/>
          <a:p>
            <a:pPr indent="0" marL="0" algn="l">
              <a:buNone/>
            </a:pPr>
            <a:r>
              <a:rPr lang="en-US" sz="1100" b="1" dirty="0">
                <a:solidFill>
                  <a:srgbClr val="1F4E79"/>
                </a:solidFill>
                <a:latin typeface="Arial" pitchFamily="34" charset="0"/>
                <a:ea typeface="Arial" pitchFamily="34" charset="-122"/>
                <a:cs typeface="Arial" pitchFamily="34" charset="-120"/>
              </a:rPr>
              <a:t>KEY ASSUMPTION</a:t>
            </a:r>
            <a:endParaRPr lang="en-US" sz="1100" dirty="0"/>
          </a:p>
        </p:txBody>
      </p:sp>
      <p:sp>
        <p:nvSpPr>
          <p:cNvPr id="6" name="Assumption text"/>
          <p:cNvSpPr/>
          <p:nvPr/>
        </p:nvSpPr>
        <p:spPr>
          <a:xfrm>
            <a:off x="868680" y="2029968"/>
            <a:ext cx="4526280" cy="620000"/>
          </a:xfrm>
          <a:prstGeom prst="rect">
            <a:avLst/>
          </a:prstGeom>
          <a:noFill/>
          <a:ln/>
        </p:spPr>
        <p:txBody>
          <a:bodyPr wrap="square" lIns="0" tIns="0" rIns="0" bIns="0" rtlCol="0" anchor="ctr">
            <a:normAutofit/>
          </a:bodyPr>
          <a:lstStyle/>
          <a:p>
            <a:pPr indent="0" marL="0" algn="l">
              <a:buNone/>
            </a:pPr>
            <a:r>
              <a:rPr lang="en-US" sz="1400" dirty="0">
                <a:solidFill>
                  <a:srgbClr val="222222"/>
                </a:solidFill>
                <a:latin typeface="Arial" pitchFamily="34" charset="0"/>
                <a:ea typeface="Arial" pitchFamily="34" charset="-122"/>
                <a:cs typeface="Arial" pitchFamily="34" charset="-120"/>
              </a:rPr>
              <a:t>Responses are partly repeatable for a pattern/frequency, but trial history and electrode topology shift the exact PSTH.</a:t>
            </a:r>
            <a:endParaRPr lang="en-US" sz="1400" dirty="0"/>
          </a:p>
        </p:txBody>
      </p:sp>
      <p:sp>
        <p:nvSpPr>
          <p:cNvPr id="7" name="Why box"/>
          <p:cNvSpPr/>
          <p:nvPr/>
        </p:nvSpPr>
        <p:spPr>
          <a:xfrm>
            <a:off x="868680" y="2971800"/>
            <a:ext cx="4526280" cy="1830000"/>
          </a:xfrm>
          <a:prstGeom prst="rect">
            <a:avLst/>
          </a:prstGeom>
          <a:solidFill>
            <a:srgbClr val="F6F8FB"/>
          </a:solidFill>
          <a:ln w="12700">
            <a:solidFill>
              <a:srgbClr val="DCE2EA"/>
            </a:solidFill>
          </a:ln>
        </p:spPr>
      </p:sp>
      <p:sp>
        <p:nvSpPr>
          <p:cNvPr id="8" name="Why label"/>
          <p:cNvSpPr/>
          <p:nvPr/>
        </p:nvSpPr>
        <p:spPr>
          <a:xfrm>
            <a:off x="1078992" y="3182112"/>
            <a:ext cx="1828800" cy="182880"/>
          </a:xfrm>
          <a:prstGeom prst="rect">
            <a:avLst/>
          </a:prstGeom>
          <a:noFill/>
          <a:ln/>
        </p:spPr>
        <p:txBody>
          <a:bodyPr wrap="square" lIns="0" tIns="0" rIns="0" bIns="0" rtlCol="0" anchor="ctr">
            <a:normAutofit/>
          </a:bodyPr>
          <a:lstStyle/>
          <a:p>
            <a:pPr indent="0" marL="0" algn="l">
              <a:buNone/>
            </a:pPr>
            <a:r>
              <a:rPr lang="en-US" sz="1100" b="1" dirty="0">
                <a:solidFill>
                  <a:srgbClr val="1F4E79"/>
                </a:solidFill>
                <a:latin typeface="Arial" pitchFamily="34" charset="0"/>
                <a:ea typeface="Arial" pitchFamily="34" charset="-122"/>
                <a:cs typeface="Arial" pitchFamily="34" charset="-120"/>
              </a:rPr>
              <a:t>WHY THIS MODEL</a:t>
            </a:r>
            <a:endParaRPr lang="en-US" sz="1100" dirty="0"/>
          </a:p>
        </p:txBody>
      </p:sp>
      <p:sp>
        <p:nvSpPr>
          <p:cNvPr id="9" name="Bullet"/>
          <p:cNvSpPr/>
          <p:nvPr/>
        </p:nvSpPr>
        <p:spPr>
          <a:xfrm>
            <a:off x="1078992" y="3483864"/>
            <a:ext cx="146304" cy="201168"/>
          </a:xfrm>
          <a:prstGeom prst="rect">
            <a:avLst/>
          </a:prstGeom>
          <a:noFill/>
          <a:ln/>
        </p:spPr>
        <p:txBody>
          <a:bodyPr wrap="square" lIns="0" tIns="0" rIns="0" bIns="0" rtlCol="0" anchor="ctr">
            <a:normAutofit/>
          </a:bodyPr>
          <a:lstStyle/>
          <a:p>
            <a:pPr indent="0" marL="0" algn="l">
              <a:buNone/>
            </a:pPr>
            <a:r>
              <a:rPr lang="en-US" sz="1450" dirty="0">
                <a:solidFill>
                  <a:srgbClr val="1F4E79"/>
                </a:solidFill>
                <a:latin typeface="Arial" pitchFamily="34" charset="0"/>
                <a:ea typeface="Arial" pitchFamily="34" charset="-122"/>
                <a:cs typeface="Arial" pitchFamily="34" charset="-120"/>
              </a:rPr>
              <a:t>•</a:t>
            </a:r>
            <a:endParaRPr lang="en-US" sz="1450" dirty="0"/>
          </a:p>
        </p:txBody>
      </p:sp>
      <p:sp>
        <p:nvSpPr>
          <p:cNvPr id="10" name="Bullet text"/>
          <p:cNvSpPr/>
          <p:nvPr/>
        </p:nvSpPr>
        <p:spPr>
          <a:xfrm>
            <a:off x="1280160" y="3493008"/>
            <a:ext cx="3977640" cy="300000"/>
          </a:xfrm>
          <a:prstGeom prst="rect">
            <a:avLst/>
          </a:prstGeom>
          <a:noFill/>
          <a:ln/>
        </p:spPr>
        <p:txBody>
          <a:bodyPr wrap="square" lIns="0" tIns="0" rIns="0" bIns="0" rtlCol="0" anchor="ctr">
            <a:normAutofit/>
          </a:bodyPr>
          <a:lstStyle/>
          <a:p>
            <a:pPr indent="0" marL="0" algn="l">
              <a:buNone/>
            </a:pPr>
            <a:r>
              <a:rPr lang="en-US" sz="1200" dirty="0">
                <a:solidFill>
                  <a:srgbClr val="333333"/>
                </a:solidFill>
                <a:latin typeface="Arial" pitchFamily="34" charset="0"/>
                <a:ea typeface="Arial" pitchFamily="34" charset="-122"/>
                <a:cs typeface="Arial" pitchFamily="34" charset="-120"/>
              </a:rPr>
              <a:t>uses the final metric: 1 ms PSTH W1</a:t>
            </a:r>
            <a:endParaRPr lang="en-US" sz="1200" dirty="0"/>
          </a:p>
        </p:txBody>
      </p:sp>
      <p:sp>
        <p:nvSpPr>
          <p:cNvPr id="11" name="Bullet"/>
          <p:cNvSpPr/>
          <p:nvPr/>
        </p:nvSpPr>
        <p:spPr>
          <a:xfrm>
            <a:off x="1078992" y="3813864"/>
            <a:ext cx="146304" cy="201168"/>
          </a:xfrm>
          <a:prstGeom prst="rect">
            <a:avLst/>
          </a:prstGeom>
          <a:noFill/>
          <a:ln/>
        </p:spPr>
        <p:txBody>
          <a:bodyPr wrap="square" lIns="0" tIns="0" rIns="0" bIns="0" rtlCol="0" anchor="ctr">
            <a:normAutofit/>
          </a:bodyPr>
          <a:lstStyle/>
          <a:p>
            <a:pPr indent="0" marL="0" algn="l">
              <a:buNone/>
            </a:pPr>
            <a:r>
              <a:rPr lang="en-US" sz="1450" dirty="0">
                <a:solidFill>
                  <a:srgbClr val="1F4E79"/>
                </a:solidFill>
                <a:latin typeface="Arial" pitchFamily="34" charset="0"/>
                <a:ea typeface="Arial" pitchFamily="34" charset="-122"/>
                <a:cs typeface="Arial" pitchFamily="34" charset="-120"/>
              </a:rPr>
              <a:t>•</a:t>
            </a:r>
            <a:endParaRPr lang="en-US" sz="1450" dirty="0"/>
          </a:p>
        </p:txBody>
      </p:sp>
      <p:sp>
        <p:nvSpPr>
          <p:cNvPr id="12" name="Bullet text"/>
          <p:cNvSpPr/>
          <p:nvPr/>
        </p:nvSpPr>
        <p:spPr>
          <a:xfrm>
            <a:off x="1280160" y="3823008"/>
            <a:ext cx="3977640" cy="300000"/>
          </a:xfrm>
          <a:prstGeom prst="rect">
            <a:avLst/>
          </a:prstGeom>
          <a:noFill/>
          <a:ln/>
        </p:spPr>
        <p:txBody>
          <a:bodyPr wrap="square" lIns="0" tIns="0" rIns="0" bIns="0" rtlCol="0" anchor="ctr">
            <a:normAutofit/>
          </a:bodyPr>
          <a:lstStyle/>
          <a:p>
            <a:pPr indent="0" marL="0" algn="l">
              <a:buNone/>
            </a:pPr>
            <a:r>
              <a:rPr lang="en-US" sz="1200" dirty="0">
                <a:solidFill>
                  <a:srgbClr val="333333"/>
                </a:solidFill>
                <a:latin typeface="Arial" pitchFamily="34" charset="0"/>
                <a:ea typeface="Arial" pitchFamily="34" charset="-122"/>
                <a:cs typeface="Arial" pitchFamily="34" charset="-120"/>
              </a:rPr>
              <a:t>keeps strong pattern-frequency priors</a:t>
            </a:r>
            <a:endParaRPr lang="en-US" sz="1200" dirty="0"/>
          </a:p>
        </p:txBody>
      </p:sp>
      <p:sp>
        <p:nvSpPr>
          <p:cNvPr id="13" name="Bullet"/>
          <p:cNvSpPr/>
          <p:nvPr/>
        </p:nvSpPr>
        <p:spPr>
          <a:xfrm>
            <a:off x="1078992" y="4143864"/>
            <a:ext cx="146304" cy="201168"/>
          </a:xfrm>
          <a:prstGeom prst="rect">
            <a:avLst/>
          </a:prstGeom>
          <a:noFill/>
          <a:ln/>
        </p:spPr>
        <p:txBody>
          <a:bodyPr wrap="square" lIns="0" tIns="0" rIns="0" bIns="0" rtlCol="0" anchor="ctr">
            <a:normAutofit/>
          </a:bodyPr>
          <a:lstStyle/>
          <a:p>
            <a:pPr indent="0" marL="0" algn="l">
              <a:buNone/>
            </a:pPr>
            <a:r>
              <a:rPr lang="en-US" sz="1450" dirty="0">
                <a:solidFill>
                  <a:srgbClr val="1F4E79"/>
                </a:solidFill>
                <a:latin typeface="Arial" pitchFamily="34" charset="0"/>
                <a:ea typeface="Arial" pitchFamily="34" charset="-122"/>
                <a:cs typeface="Arial" pitchFamily="34" charset="-120"/>
              </a:rPr>
              <a:t>•</a:t>
            </a:r>
            <a:endParaRPr lang="en-US" sz="1450" dirty="0"/>
          </a:p>
        </p:txBody>
      </p:sp>
      <p:sp>
        <p:nvSpPr>
          <p:cNvPr id="14" name="Bullet text"/>
          <p:cNvSpPr/>
          <p:nvPr/>
        </p:nvSpPr>
        <p:spPr>
          <a:xfrm>
            <a:off x="1280160" y="4153008"/>
            <a:ext cx="3977640" cy="300000"/>
          </a:xfrm>
          <a:prstGeom prst="rect">
            <a:avLst/>
          </a:prstGeom>
          <a:noFill/>
          <a:ln/>
        </p:spPr>
        <p:txBody>
          <a:bodyPr wrap="square" lIns="0" tIns="0" rIns="0" bIns="0" rtlCol="0" anchor="ctr">
            <a:normAutofit/>
          </a:bodyPr>
          <a:lstStyle/>
          <a:p>
            <a:pPr indent="0" marL="0" algn="l">
              <a:buNone/>
            </a:pPr>
            <a:r>
              <a:rPr lang="en-US" sz="1200" dirty="0">
                <a:solidFill>
                  <a:srgbClr val="333333"/>
                </a:solidFill>
                <a:latin typeface="Arial" pitchFamily="34" charset="0"/>
                <a:ea typeface="Arial" pitchFamily="34" charset="-122"/>
                <a:cs typeface="Arial" pitchFamily="34" charset="-120"/>
              </a:rPr>
              <a:t>adds causal history and electrode graph context</a:t>
            </a:r>
            <a:endParaRPr lang="en-US" sz="1200" dirty="0"/>
          </a:p>
        </p:txBody>
      </p:sp>
      <p:sp>
        <p:nvSpPr>
          <p:cNvPr id="15" name="Bullet"/>
          <p:cNvSpPr/>
          <p:nvPr/>
        </p:nvSpPr>
        <p:spPr>
          <a:xfrm>
            <a:off x="1078992" y="4473864"/>
            <a:ext cx="146304" cy="201168"/>
          </a:xfrm>
          <a:prstGeom prst="rect">
            <a:avLst/>
          </a:prstGeom>
          <a:noFill/>
          <a:ln/>
        </p:spPr>
        <p:txBody>
          <a:bodyPr wrap="square" lIns="0" tIns="0" rIns="0" bIns="0" rtlCol="0" anchor="ctr">
            <a:normAutofit/>
          </a:bodyPr>
          <a:lstStyle/>
          <a:p>
            <a:pPr indent="0" marL="0" algn="l">
              <a:buNone/>
            </a:pPr>
            <a:r>
              <a:rPr lang="en-US" sz="1450" dirty="0">
                <a:solidFill>
                  <a:srgbClr val="1F4E79"/>
                </a:solidFill>
                <a:latin typeface="Arial" pitchFamily="34" charset="0"/>
                <a:ea typeface="Arial" pitchFamily="34" charset="-122"/>
                <a:cs typeface="Arial" pitchFamily="34" charset="-120"/>
              </a:rPr>
              <a:t>•</a:t>
            </a:r>
            <a:endParaRPr lang="en-US" sz="1450" dirty="0"/>
          </a:p>
        </p:txBody>
      </p:sp>
      <p:sp>
        <p:nvSpPr>
          <p:cNvPr id="16" name="Bullet text"/>
          <p:cNvSpPr/>
          <p:nvPr/>
        </p:nvSpPr>
        <p:spPr>
          <a:xfrm>
            <a:off x="1280160" y="4483008"/>
            <a:ext cx="3977640" cy="300000"/>
          </a:xfrm>
          <a:prstGeom prst="rect">
            <a:avLst/>
          </a:prstGeom>
          <a:noFill/>
          <a:ln/>
        </p:spPr>
        <p:txBody>
          <a:bodyPr wrap="square" lIns="0" tIns="0" rIns="0" bIns="0" rtlCol="0" anchor="ctr">
            <a:normAutofit/>
          </a:bodyPr>
          <a:lstStyle/>
          <a:p>
            <a:pPr indent="0" marL="0" algn="l">
              <a:buNone/>
            </a:pPr>
            <a:r>
              <a:rPr lang="en-US" sz="1200" dirty="0">
                <a:solidFill>
                  <a:srgbClr val="333333"/>
                </a:solidFill>
                <a:latin typeface="Arial" pitchFamily="34" charset="0"/>
                <a:ea typeface="Arial" pitchFamily="34" charset="-122"/>
                <a:cs typeface="Arial" pitchFamily="34" charset="-120"/>
              </a:rPr>
              <a:t>predicts the full distribution, not a class label</a:t>
            </a:r>
            <a:endParaRPr lang="en-US" sz="1200" dirty="0"/>
          </a:p>
        </p:txBody>
      </p:sp>
      <p:sp>
        <p:nvSpPr>
          <p:cNvPr id="17" name="Pipeline box"/>
          <p:cNvSpPr/>
          <p:nvPr/>
        </p:nvSpPr>
        <p:spPr>
          <a:xfrm>
            <a:off x="5715000" y="1847088"/>
            <a:ext cx="1170432" cy="1051560"/>
          </a:xfrm>
          <a:prstGeom prst="rect">
            <a:avLst/>
          </a:prstGeom>
          <a:solidFill>
            <a:srgbClr val="EEF6F3"/>
          </a:solidFill>
          <a:ln w="12700">
            <a:solidFill>
              <a:srgbClr val="BFD8CE"/>
            </a:solidFill>
          </a:ln>
        </p:spPr>
      </p:sp>
      <p:sp>
        <p:nvSpPr>
          <p:cNvPr id="18" name="Pipeline main"/>
          <p:cNvSpPr/>
          <p:nvPr/>
        </p:nvSpPr>
        <p:spPr>
          <a:xfrm>
            <a:off x="5824728" y="2010000"/>
            <a:ext cx="950976" cy="430000"/>
          </a:xfrm>
          <a:prstGeom prst="rect">
            <a:avLst/>
          </a:prstGeom>
          <a:noFill/>
          <a:ln/>
        </p:spPr>
        <p:txBody>
          <a:bodyPr wrap="square" lIns="0" tIns="0" rIns="0" bIns="0" rtlCol="0" anchor="ctr">
            <a:normAutofit/>
          </a:bodyPr>
          <a:lstStyle/>
          <a:p>
            <a:pPr indent="0" marL="0" algn="c">
              <a:buNone/>
            </a:pPr>
            <a:r>
              <a:rPr lang="en-US" sz="1300" b="1" dirty="0">
                <a:solidFill>
                  <a:srgbClr val="111111"/>
                </a:solidFill>
                <a:latin typeface="Arial" pitchFamily="34" charset="0"/>
                <a:ea typeface="Arial" pitchFamily="34" charset="-122"/>
                <a:cs typeface="Arial" pitchFamily="34" charset="-120"/>
              </a:rPr>
              <a:t>Pattern + freq</a:t>
            </a:r>
            <a:endParaRPr lang="en-US" sz="1300" dirty="0"/>
          </a:p>
          <a:p>
            <a:pPr indent="0" marL="0" algn="c">
              <a:buNone/>
            </a:pPr>
            <a:r>
              <a:rPr lang="en-US" sz="1300" b="1" dirty="0">
                <a:solidFill>
                  <a:srgbClr val="111111"/>
                </a:solidFill>
                <a:latin typeface="Arial" pitchFamily="34" charset="0"/>
                <a:ea typeface="Arial" pitchFamily="34" charset="-122"/>
                <a:cs typeface="Arial" pitchFamily="34" charset="-120"/>
              </a:rPr>
              <a:t>baseline</a:t>
            </a:r>
            <a:endParaRPr lang="en-US" sz="1300" dirty="0"/>
          </a:p>
        </p:txBody>
      </p:sp>
      <p:sp>
        <p:nvSpPr>
          <p:cNvPr id="19" name="Pipeline sub"/>
          <p:cNvSpPr/>
          <p:nvPr/>
        </p:nvSpPr>
        <p:spPr>
          <a:xfrm>
            <a:off x="5824728" y="2542032"/>
            <a:ext cx="950976" cy="164592"/>
          </a:xfrm>
          <a:prstGeom prst="rect">
            <a:avLst/>
          </a:prstGeom>
          <a:noFill/>
          <a:ln/>
        </p:spPr>
        <p:txBody>
          <a:bodyPr wrap="square" lIns="0" tIns="0" rIns="0" bIns="0" rtlCol="0" anchor="ctr">
            <a:normAutofit/>
          </a:bodyPr>
          <a:lstStyle/>
          <a:p>
            <a:pPr indent="0" marL="0" algn="c">
              <a:buNone/>
            </a:pPr>
            <a:r>
              <a:rPr lang="en-US" sz="1000" dirty="0">
                <a:solidFill>
                  <a:srgbClr val="666666"/>
                </a:solidFill>
                <a:latin typeface="Arial" pitchFamily="34" charset="0"/>
                <a:ea typeface="Arial" pitchFamily="34" charset="-122"/>
                <a:cs typeface="Arial" pitchFamily="34" charset="-120"/>
              </a:rPr>
              <a:t>prior</a:t>
            </a:r>
            <a:endParaRPr lang="en-US" sz="1000" dirty="0"/>
          </a:p>
        </p:txBody>
      </p:sp>
      <p:sp>
        <p:nvSpPr>
          <p:cNvPr id="40" name="Pipeline connector"/>
          <p:cNvSpPr/>
          <p:nvPr/>
        </p:nvSpPr>
        <p:spPr>
          <a:xfrm>
            <a:off x="6995000" y="2368296"/>
            <a:ext cx="310896" cy="0"/>
          </a:xfrm>
          <a:prstGeom prst="line">
            <a:avLst/>
          </a:prstGeom>
          <a:noFill/>
          <a:ln w="12700">
            <a:solidFill>
              <a:srgbClr val="B8C2CC"/>
            </a:solidFill>
          </a:ln>
        </p:spPr>
      </p:sp>
      <p:sp>
        <p:nvSpPr>
          <p:cNvPr id="20" name="Pipeline box"/>
          <p:cNvSpPr/>
          <p:nvPr/>
        </p:nvSpPr>
        <p:spPr>
          <a:xfrm>
            <a:off x="7205000" y="1847088"/>
            <a:ext cx="1170432" cy="1051560"/>
          </a:xfrm>
          <a:prstGeom prst="rect">
            <a:avLst/>
          </a:prstGeom>
          <a:solidFill>
            <a:srgbClr val="F7F1FA"/>
          </a:solidFill>
          <a:ln w="12700">
            <a:solidFill>
              <a:srgbClr val="D6BFE3"/>
            </a:solidFill>
          </a:ln>
        </p:spPr>
      </p:sp>
      <p:sp>
        <p:nvSpPr>
          <p:cNvPr id="21" name="Pipeline main"/>
          <p:cNvSpPr/>
          <p:nvPr/>
        </p:nvSpPr>
        <p:spPr>
          <a:xfrm>
            <a:off x="7314728" y="2010000"/>
            <a:ext cx="950976" cy="430000"/>
          </a:xfrm>
          <a:prstGeom prst="rect">
            <a:avLst/>
          </a:prstGeom>
          <a:noFill/>
          <a:ln/>
        </p:spPr>
        <p:txBody>
          <a:bodyPr wrap="square" lIns="0" tIns="0" rIns="0" bIns="0" rtlCol="0" anchor="ctr">
            <a:normAutofit/>
          </a:bodyPr>
          <a:lstStyle/>
          <a:p>
            <a:pPr indent="0" marL="0" algn="c">
              <a:buNone/>
            </a:pPr>
            <a:r>
              <a:rPr lang="en-US" sz="1300" b="1" dirty="0">
                <a:solidFill>
                  <a:srgbClr val="111111"/>
                </a:solidFill>
                <a:latin typeface="Arial" pitchFamily="34" charset="0"/>
                <a:ea typeface="Arial" pitchFamily="34" charset="-122"/>
                <a:cs typeface="Arial" pitchFamily="34" charset="-120"/>
              </a:rPr>
              <a:t>History GRU</a:t>
            </a:r>
            <a:endParaRPr lang="en-US" sz="1300" dirty="0"/>
          </a:p>
          <a:p>
            <a:pPr indent="0" marL="0" algn="c">
              <a:buNone/>
            </a:pPr>
            <a:r>
              <a:rPr lang="en-US" sz="1300" b="1" dirty="0">
                <a:solidFill>
                  <a:srgbClr val="111111"/>
                </a:solidFill>
                <a:latin typeface="Arial" pitchFamily="34" charset="0"/>
                <a:ea typeface="Arial" pitchFamily="34" charset="-122"/>
                <a:cs typeface="Arial" pitchFamily="34" charset="-120"/>
              </a:rPr>
              <a:t>+ z-windows</a:t>
            </a:r>
            <a:endParaRPr lang="en-US" sz="1300" dirty="0"/>
          </a:p>
        </p:txBody>
      </p:sp>
      <p:sp>
        <p:nvSpPr>
          <p:cNvPr id="22" name="Pipeline sub"/>
          <p:cNvSpPr/>
          <p:nvPr/>
        </p:nvSpPr>
        <p:spPr>
          <a:xfrm>
            <a:off x="7314728" y="2542032"/>
            <a:ext cx="950976" cy="164592"/>
          </a:xfrm>
          <a:prstGeom prst="rect">
            <a:avLst/>
          </a:prstGeom>
          <a:noFill/>
          <a:ln/>
        </p:spPr>
        <p:txBody>
          <a:bodyPr wrap="square" lIns="0" tIns="0" rIns="0" bIns="0" rtlCol="0" anchor="ctr">
            <a:normAutofit/>
          </a:bodyPr>
          <a:lstStyle/>
          <a:p>
            <a:pPr indent="0" marL="0" algn="c">
              <a:buNone/>
            </a:pPr>
            <a:r>
              <a:rPr lang="en-US" sz="1000" dirty="0">
                <a:solidFill>
                  <a:srgbClr val="666666"/>
                </a:solidFill>
                <a:latin typeface="Arial" pitchFamily="34" charset="0"/>
                <a:ea typeface="Arial" pitchFamily="34" charset="-122"/>
                <a:cs typeface="Arial" pitchFamily="34" charset="-120"/>
              </a:rPr>
              <a:t>context</a:t>
            </a:r>
            <a:endParaRPr lang="en-US" sz="1000" dirty="0"/>
          </a:p>
        </p:txBody>
      </p:sp>
      <p:sp>
        <p:nvSpPr>
          <p:cNvPr id="41" name="Pipeline connector"/>
          <p:cNvSpPr/>
          <p:nvPr/>
        </p:nvSpPr>
        <p:spPr>
          <a:xfrm>
            <a:off x="8485000" y="2368296"/>
            <a:ext cx="310896" cy="0"/>
          </a:xfrm>
          <a:prstGeom prst="line">
            <a:avLst/>
          </a:prstGeom>
          <a:noFill/>
          <a:ln w="12700">
            <a:solidFill>
              <a:srgbClr val="B8C2CC"/>
            </a:solidFill>
          </a:ln>
        </p:spPr>
      </p:sp>
      <p:sp>
        <p:nvSpPr>
          <p:cNvPr id="23" name="Pipeline box"/>
          <p:cNvSpPr/>
          <p:nvPr/>
        </p:nvSpPr>
        <p:spPr>
          <a:xfrm>
            <a:off x="8695000" y="1847088"/>
            <a:ext cx="1170432" cy="1051560"/>
          </a:xfrm>
          <a:prstGeom prst="rect">
            <a:avLst/>
          </a:prstGeom>
          <a:solidFill>
            <a:srgbClr val="F8F5EF"/>
          </a:solidFill>
          <a:ln w="12700">
            <a:solidFill>
              <a:srgbClr val="E5C88C"/>
            </a:solidFill>
          </a:ln>
        </p:spPr>
      </p:sp>
      <p:sp>
        <p:nvSpPr>
          <p:cNvPr id="24" name="Pipeline main"/>
          <p:cNvSpPr/>
          <p:nvPr/>
        </p:nvSpPr>
        <p:spPr>
          <a:xfrm>
            <a:off x="8804728" y="2010000"/>
            <a:ext cx="950976" cy="430000"/>
          </a:xfrm>
          <a:prstGeom prst="rect">
            <a:avLst/>
          </a:prstGeom>
          <a:noFill/>
          <a:ln/>
        </p:spPr>
        <p:txBody>
          <a:bodyPr wrap="square" lIns="0" tIns="0" rIns="0" bIns="0" rtlCol="0" anchor="ctr">
            <a:normAutofit/>
          </a:bodyPr>
          <a:lstStyle/>
          <a:p>
            <a:pPr indent="0" marL="0" algn="c">
              <a:buNone/>
            </a:pPr>
            <a:r>
              <a:rPr lang="en-US" sz="1300" b="1" dirty="0">
                <a:solidFill>
                  <a:srgbClr val="111111"/>
                </a:solidFill>
                <a:latin typeface="Arial" pitchFamily="34" charset="0"/>
                <a:ea typeface="Arial" pitchFamily="34" charset="-122"/>
                <a:cs typeface="Arial" pitchFamily="34" charset="-120"/>
              </a:rPr>
              <a:t>Hybrid graph</a:t>
            </a:r>
            <a:endParaRPr lang="en-US" sz="1300" dirty="0"/>
          </a:p>
          <a:p>
            <a:pPr indent="0" marL="0" algn="c">
              <a:buNone/>
            </a:pPr>
            <a:r>
              <a:rPr lang="en-US" sz="1300" b="1" dirty="0">
                <a:solidFill>
                  <a:srgbClr val="111111"/>
                </a:solidFill>
                <a:latin typeface="Arial" pitchFamily="34" charset="0"/>
                <a:ea typeface="Arial" pitchFamily="34" charset="-122"/>
                <a:cs typeface="Arial" pitchFamily="34" charset="-120"/>
              </a:rPr>
              <a:t>residual</a:t>
            </a:r>
            <a:endParaRPr lang="en-US" sz="1300" dirty="0"/>
          </a:p>
        </p:txBody>
      </p:sp>
      <p:sp>
        <p:nvSpPr>
          <p:cNvPr id="25" name="Pipeline sub"/>
          <p:cNvSpPr/>
          <p:nvPr/>
        </p:nvSpPr>
        <p:spPr>
          <a:xfrm>
            <a:off x="8804728" y="2542032"/>
            <a:ext cx="950976" cy="164592"/>
          </a:xfrm>
          <a:prstGeom prst="rect">
            <a:avLst/>
          </a:prstGeom>
          <a:noFill/>
          <a:ln/>
        </p:spPr>
        <p:txBody>
          <a:bodyPr wrap="square" lIns="0" tIns="0" rIns="0" bIns="0" rtlCol="0" anchor="ctr">
            <a:normAutofit/>
          </a:bodyPr>
          <a:lstStyle/>
          <a:p>
            <a:pPr indent="0" marL="0" algn="c">
              <a:buNone/>
            </a:pPr>
            <a:r>
              <a:rPr lang="en-US" sz="1000" dirty="0">
                <a:solidFill>
                  <a:srgbClr val="666666"/>
                </a:solidFill>
                <a:latin typeface="Arial" pitchFamily="34" charset="0"/>
                <a:ea typeface="Arial" pitchFamily="34" charset="-122"/>
                <a:cs typeface="Arial" pitchFamily="34" charset="-120"/>
              </a:rPr>
              <a:t>where/when</a:t>
            </a:r>
            <a:endParaRPr lang="en-US" sz="1000" dirty="0"/>
          </a:p>
        </p:txBody>
      </p:sp>
      <p:sp>
        <p:nvSpPr>
          <p:cNvPr id="42" name="Pipeline connector"/>
          <p:cNvSpPr/>
          <p:nvPr/>
        </p:nvSpPr>
        <p:spPr>
          <a:xfrm>
            <a:off x="9975000" y="2368296"/>
            <a:ext cx="310896" cy="0"/>
          </a:xfrm>
          <a:prstGeom prst="line">
            <a:avLst/>
          </a:prstGeom>
          <a:noFill/>
          <a:ln w="12700">
            <a:solidFill>
              <a:srgbClr val="B8C2CC"/>
            </a:solidFill>
          </a:ln>
        </p:spPr>
      </p:sp>
      <p:sp>
        <p:nvSpPr>
          <p:cNvPr id="26" name="Pipeline box"/>
          <p:cNvSpPr/>
          <p:nvPr/>
        </p:nvSpPr>
        <p:spPr>
          <a:xfrm>
            <a:off x="10185000" y="1847088"/>
            <a:ext cx="1170432" cy="1051560"/>
          </a:xfrm>
          <a:prstGeom prst="rect">
            <a:avLst/>
          </a:prstGeom>
          <a:solidFill>
            <a:srgbClr val="EEF2FA"/>
          </a:solidFill>
          <a:ln w="12700">
            <a:solidFill>
              <a:srgbClr val="B8C5E6"/>
            </a:solidFill>
          </a:ln>
        </p:spPr>
      </p:sp>
      <p:sp>
        <p:nvSpPr>
          <p:cNvPr id="27" name="Pipeline main"/>
          <p:cNvSpPr/>
          <p:nvPr/>
        </p:nvSpPr>
        <p:spPr>
          <a:xfrm>
            <a:off x="10294728" y="2010000"/>
            <a:ext cx="950976" cy="430000"/>
          </a:xfrm>
          <a:prstGeom prst="rect">
            <a:avLst/>
          </a:prstGeom>
          <a:noFill/>
          <a:ln/>
        </p:spPr>
        <p:txBody>
          <a:bodyPr wrap="square" lIns="0" tIns="0" rIns="0" bIns="0" rtlCol="0" anchor="ctr">
            <a:normAutofit/>
          </a:bodyPr>
          <a:lstStyle/>
          <a:p>
            <a:pPr indent="0" marL="0" algn="c">
              <a:buNone/>
            </a:pPr>
            <a:r>
              <a:rPr lang="en-US" sz="1300" b="1" dirty="0">
                <a:solidFill>
                  <a:srgbClr val="111111"/>
                </a:solidFill>
                <a:latin typeface="Arial" pitchFamily="34" charset="0"/>
                <a:ea typeface="Arial" pitchFamily="34" charset="-122"/>
                <a:cs typeface="Arial" pitchFamily="34" charset="-120"/>
              </a:rPr>
              <a:t>W1 blend</a:t>
            </a:r>
            <a:endParaRPr lang="en-US" sz="1300" dirty="0"/>
          </a:p>
        </p:txBody>
      </p:sp>
      <p:sp>
        <p:nvSpPr>
          <p:cNvPr id="28" name="Pipeline sub"/>
          <p:cNvSpPr/>
          <p:nvPr/>
        </p:nvSpPr>
        <p:spPr>
          <a:xfrm>
            <a:off x="10294728" y="2542032"/>
            <a:ext cx="950976" cy="164592"/>
          </a:xfrm>
          <a:prstGeom prst="rect">
            <a:avLst/>
          </a:prstGeom>
          <a:noFill/>
          <a:ln/>
        </p:spPr>
        <p:txBody>
          <a:bodyPr wrap="square" lIns="0" tIns="0" rIns="0" bIns="0" rtlCol="0" anchor="ctr">
            <a:normAutofit/>
          </a:bodyPr>
          <a:lstStyle/>
          <a:p>
            <a:pPr indent="0" marL="0" algn="c">
              <a:buNone/>
            </a:pPr>
            <a:r>
              <a:rPr lang="en-US" sz="1000" dirty="0">
                <a:solidFill>
                  <a:srgbClr val="666666"/>
                </a:solidFill>
                <a:latin typeface="Arial" pitchFamily="34" charset="0"/>
                <a:ea typeface="Arial" pitchFamily="34" charset="-122"/>
                <a:cs typeface="Arial" pitchFamily="34" charset="-120"/>
              </a:rPr>
              <a:t>metric fit</a:t>
            </a:r>
            <a:endParaRPr lang="en-US" sz="1000" dirty="0"/>
          </a:p>
        </p:txBody>
      </p:sp>
      <p:sp>
        <p:nvSpPr>
          <p:cNvPr id="50" name="Output divider"/>
          <p:cNvSpPr/>
          <p:nvPr/>
        </p:nvSpPr>
        <p:spPr>
          <a:xfrm>
            <a:off x="5715000" y="3246120"/>
            <a:ext cx="5440680" cy="0"/>
          </a:xfrm>
          <a:prstGeom prst="line">
            <a:avLst/>
          </a:prstGeom>
          <a:noFill/>
          <a:ln w="12700">
            <a:solidFill>
              <a:srgbClr val="E5E5E5"/>
            </a:solidFill>
          </a:ln>
        </p:spPr>
      </p:sp>
      <p:sp>
        <p:nvSpPr>
          <p:cNvPr id="51" name="Formula label"/>
          <p:cNvSpPr/>
          <p:nvPr/>
        </p:nvSpPr>
        <p:spPr>
          <a:xfrm>
            <a:off x="5715000" y="3547872"/>
            <a:ext cx="1828800" cy="182880"/>
          </a:xfrm>
          <a:prstGeom prst="rect">
            <a:avLst/>
          </a:prstGeom>
          <a:noFill/>
          <a:ln/>
        </p:spPr>
        <p:txBody>
          <a:bodyPr wrap="square" lIns="0" tIns="0" rIns="0" bIns="0" rtlCol="0" anchor="ctr">
            <a:normAutofit/>
          </a:bodyPr>
          <a:lstStyle/>
          <a:p>
            <a:pPr indent="0" marL="0" algn="l">
              <a:buNone/>
            </a:pPr>
            <a:r>
              <a:rPr lang="en-US" sz="1100" b="1" dirty="0">
                <a:solidFill>
                  <a:srgbClr val="1F4E79"/>
                </a:solidFill>
                <a:latin typeface="Arial" pitchFamily="34" charset="0"/>
                <a:ea typeface="Arial" pitchFamily="34" charset="-122"/>
                <a:cs typeface="Arial" pitchFamily="34" charset="-120"/>
              </a:rPr>
              <a:t>MODEL OUTPUT</a:t>
            </a:r>
            <a:endParaRPr lang="en-US" sz="1100" dirty="0"/>
          </a:p>
        </p:txBody>
      </p:sp>
      <p:sp>
        <p:nvSpPr>
          <p:cNvPr id="52" name="Formula"/>
          <p:cNvSpPr/>
          <p:nvPr/>
        </p:nvSpPr>
        <p:spPr>
          <a:xfrm>
            <a:off x="5715000" y="3858768"/>
            <a:ext cx="5394960" cy="384048"/>
          </a:xfrm>
          <a:prstGeom prst="rect">
            <a:avLst/>
          </a:prstGeom>
          <a:noFill/>
          <a:ln/>
        </p:spPr>
        <p:txBody>
          <a:bodyPr wrap="square" lIns="0" tIns="0" rIns="0" bIns="0" rtlCol="0" anchor="ctr">
            <a:normAutofit/>
          </a:bodyPr>
          <a:lstStyle/>
          <a:p>
            <a:pPr indent="0" marL="0" algn="l">
              <a:buNone/>
            </a:pPr>
            <a:r>
              <a:rPr lang="en-US" sz="1500" dirty="0">
                <a:solidFill>
                  <a:srgbClr val="222222"/>
                </a:solidFill>
                <a:latin typeface="Arial" pitchFamily="34" charset="0"/>
                <a:ea typeface="Arial" pitchFamily="34" charset="-122"/>
                <a:cs typeface="Arial" pitchFamily="34" charset="-120"/>
              </a:rPr>
              <a:t>logits = baseline_logits + residual_scale x learned_residual</a:t>
            </a:r>
            <a:endParaRPr lang="en-US" sz="1500" dirty="0"/>
          </a:p>
        </p:txBody>
      </p:sp>
      <p:sp>
        <p:nvSpPr>
          <p:cNvPr id="53" name="Not something else"/>
          <p:cNvSpPr/>
          <p:nvPr/>
        </p:nvSpPr>
        <p:spPr>
          <a:xfrm>
            <a:off x="5715000" y="4407408"/>
            <a:ext cx="5394960" cy="500000"/>
          </a:xfrm>
          <a:prstGeom prst="rect">
            <a:avLst/>
          </a:prstGeom>
          <a:noFill/>
          <a:ln/>
        </p:spPr>
        <p:txBody>
          <a:bodyPr wrap="square" lIns="0" tIns="0" rIns="0" bIns="0" rtlCol="0" anchor="ctr">
            <a:normAutofit/>
          </a:bodyPr>
          <a:lstStyle/>
          <a:p>
            <a:pPr indent="0" marL="0" algn="l">
              <a:buNone/>
            </a:pPr>
            <a:r>
              <a:rPr lang="en-US" sz="1200" dirty="0">
                <a:solidFill>
                  <a:srgbClr val="555555"/>
                </a:solidFill>
                <a:latin typeface="Arial" pitchFamily="34" charset="0"/>
                <a:ea typeface="Arial" pitchFamily="34" charset="-122"/>
                <a:cs typeface="Arial" pitchFamily="34" charset="-120"/>
              </a:rPr>
              <a:t>Not a Task 1-style classifier: Task 2 needs calibrated electrode-time probability mass and timing.</a:t>
            </a:r>
            <a:endParaRPr lang="en-US" sz="1200" dirty="0"/>
          </a:p>
        </p:txBody>
      </p:sp>
      <p:pic>
        <p:nvPicPr>
          <p:cNvPr id="54" name="Image footer logo"/>
          <p:cNvPicPr>
            <a:picLocks noChangeAspect="1"/>
          </p:cNvPicPr>
          <p:nvPr/>
        </p:nvPicPr>
        <p:blipFill>
          <a:blip r:embed="rId2"/>
          <a:stretch>
            <a:fillRect/>
          </a:stretch>
        </p:blipFill>
        <p:spPr>
          <a:xfrm>
            <a:off x="566928" y="6355080"/>
            <a:ext cx="1143000" cy="187452"/>
          </a:xfrm>
          <a:prstGeom prst="rect">
            <a:avLst/>
          </a:prstGeom>
        </p:spPr>
      </p:pic>
      <p:sp>
        <p:nvSpPr>
          <p:cNvPr id="55" name="Footer"/>
          <p:cNvSpPr/>
          <p:nvPr/>
        </p:nvSpPr>
        <p:spPr>
          <a:xfrm>
            <a:off x="2331720" y="6345936"/>
            <a:ext cx="3840480" cy="228600"/>
          </a:xfrm>
          <a:prstGeom prst="rect">
            <a:avLst/>
          </a:prstGeom>
          <a:noFill/>
          <a:ln/>
        </p:spPr>
        <p:txBody>
          <a:bodyPr wrap="square" lIns="0" tIns="0" rIns="0" bIns="0" rtlCol="0" anchor="ctr">
            <a:normAutofit/>
          </a:bodyPr>
          <a:lstStyle/>
          <a:p>
            <a:pPr indent="0" marL="0" algn="l">
              <a:buNone/>
            </a:pPr>
            <a:r>
              <a:rPr lang="en-US" sz="1200" dirty="0">
                <a:solidFill>
                  <a:srgbClr val="777777"/>
                </a:solidFill>
                <a:latin typeface="Arial" pitchFamily="34" charset="0"/>
                <a:ea typeface="Arial" pitchFamily="34" charset="-122"/>
                <a:cs typeface="Arial" pitchFamily="34" charset="-120"/>
              </a:rPr>
              <a:t>Group 4 · Task 2 Prediction</a:t>
            </a:r>
            <a:endParaRPr lang="en-US" sz="1200" dirty="0"/>
          </a:p>
        </p:txBody>
      </p:sp>
      <p:sp>
        <p:nvSpPr>
          <p:cNvPr id="56" name="Slide number"/>
          <p:cNvSpPr/>
          <p:nvPr/>
        </p:nvSpPr>
        <p:spPr>
          <a:xfrm>
            <a:off x="11201400" y="6345936"/>
            <a:ext cx="228600" cy="228600"/>
          </a:xfrm>
          <a:prstGeom prst="rect">
            <a:avLst/>
          </a:prstGeom>
          <a:noFill/>
          <a:ln/>
        </p:spPr>
        <p:txBody>
          <a:bodyPr wrap="square" lIns="0" tIns="0" rIns="0" bIns="0" rtlCol="0" anchor="ctr">
            <a:normAutofit/>
          </a:bodyPr>
          <a:lstStyle/>
          <a:p>
            <a:pPr indent="0" marL="0" algn="r">
              <a:buNone/>
            </a:pPr>
            <a:r>
              <a:rPr lang="en-US" sz="1200" dirty="0">
                <a:solidFill>
                  <a:srgbClr val="777777"/>
                </a:solidFill>
                <a:latin typeface="Arial" pitchFamily="34" charset="0"/>
                <a:ea typeface="Arial" pitchFamily="34" charset="-122"/>
                <a:cs typeface="Arial"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822960" y="502920"/>
            <a:ext cx="10012680" cy="502920"/>
          </a:xfrm>
          <a:prstGeom prst="rect">
            <a:avLst/>
          </a:prstGeom>
          <a:noFill/>
          <a:ln/>
        </p:spPr>
        <p:txBody>
          <a:bodyPr wrap="square" lIns="0" tIns="0" rIns="0" bIns="0" rtlCol="0" anchor="ctr">
            <a:normAutofit/>
          </a:bodyPr>
          <a:lstStyle/>
          <a:p>
            <a:pPr indent="0" marL="0" algn="l">
              <a:buNone/>
            </a:pPr>
            <a:r>
              <a:rPr lang="en-US" sz="2900" b="1" dirty="0">
                <a:solidFill>
                  <a:srgbClr val="111111"/>
                </a:solidFill>
                <a:latin typeface="Arial" pitchFamily="34" charset="0"/>
                <a:ea typeface="Arial" pitchFamily="34" charset="-122"/>
                <a:cs typeface="Arial" pitchFamily="34" charset="-120"/>
              </a:rPr>
              <a:t>What we tried: align the model to the scoring metric</a:t>
            </a:r>
            <a:endParaRPr lang="en-US" sz="2900" dirty="0"/>
          </a:p>
        </p:txBody>
      </p:sp>
      <p:sp>
        <p:nvSpPr>
          <p:cNvPr id="3" name="Subtitle"/>
          <p:cNvSpPr/>
          <p:nvPr/>
        </p:nvSpPr>
        <p:spPr>
          <a:xfrm>
            <a:off x="850392" y="1069848"/>
            <a:ext cx="10012680" cy="256032"/>
          </a:xfrm>
          <a:prstGeom prst="rect">
            <a:avLst/>
          </a:prstGeom>
          <a:noFill/>
          <a:ln/>
        </p:spPr>
        <p:txBody>
          <a:bodyPr wrap="square" lIns="0" tIns="0" rIns="0" bIns="0" rtlCol="0" anchor="ctr">
            <a:normAutofit/>
          </a:bodyPr>
          <a:lstStyle/>
          <a:p>
            <a:pPr indent="0" marL="0" algn="l">
              <a:buNone/>
            </a:pPr>
            <a:r>
              <a:rPr lang="en-US" sz="1200" dirty="0">
                <a:solidFill>
                  <a:srgbClr val="666666"/>
                </a:solidFill>
                <a:latin typeface="Arial" pitchFamily="34" charset="0"/>
                <a:ea typeface="Arial" pitchFamily="34" charset="-122"/>
                <a:cs typeface="Arial" pitchFamily="34" charset="-120"/>
              </a:rPr>
              <a:t>The winning design came from replacing BCE-only selection with W1/PSTH diagnostics.</a:t>
            </a:r>
            <a:endParaRPr lang="en-US" sz="1200" dirty="0"/>
          </a:p>
        </p:txBody>
      </p:sp>
      <p:sp>
        <p:nvSpPr>
          <p:cNvPr id="4" name="Divider"/>
          <p:cNvSpPr/>
          <p:nvPr/>
        </p:nvSpPr>
        <p:spPr>
          <a:xfrm>
            <a:off x="822960" y="1417320"/>
            <a:ext cx="10607040" cy="0"/>
          </a:xfrm>
          <a:prstGeom prst="line">
            <a:avLst/>
          </a:prstGeom>
          <a:noFill/>
          <a:ln w="12700">
            <a:solidFill>
              <a:srgbClr val="E5E5E5"/>
            </a:solidFill>
          </a:ln>
        </p:spPr>
      </p:sp>
      <p:sp>
        <p:nvSpPr>
          <p:cNvPr id="5" name="Trials box"/>
          <p:cNvSpPr/>
          <p:nvPr/>
        </p:nvSpPr>
        <p:spPr>
          <a:xfrm>
            <a:off x="868680" y="1783080"/>
            <a:ext cx="3337560" cy="3500000"/>
          </a:xfrm>
          <a:prstGeom prst="rect">
            <a:avLst/>
          </a:prstGeom>
          <a:solidFill>
            <a:srgbClr val="F6F8FB"/>
          </a:solidFill>
          <a:ln w="12700">
            <a:solidFill>
              <a:srgbClr val="DCE2EA"/>
            </a:solidFill>
          </a:ln>
        </p:spPr>
      </p:sp>
      <p:sp>
        <p:nvSpPr>
          <p:cNvPr id="6" name="Trials label"/>
          <p:cNvSpPr/>
          <p:nvPr/>
        </p:nvSpPr>
        <p:spPr>
          <a:xfrm>
            <a:off x="1078992" y="2020000"/>
            <a:ext cx="2100000" cy="182880"/>
          </a:xfrm>
          <a:prstGeom prst="rect">
            <a:avLst/>
          </a:prstGeom>
          <a:noFill/>
          <a:ln/>
        </p:spPr>
        <p:txBody>
          <a:bodyPr wrap="square" lIns="0" tIns="0" rIns="0" bIns="0" rtlCol="0" anchor="ctr">
            <a:normAutofit/>
          </a:bodyPr>
          <a:lstStyle/>
          <a:p>
            <a:pPr indent="0" marL="0" algn="l">
              <a:buNone/>
            </a:pPr>
            <a:r>
              <a:rPr lang="en-US" sz="1100" b="1" dirty="0">
                <a:solidFill>
                  <a:srgbClr val="1F4E79"/>
                </a:solidFill>
                <a:latin typeface="Arial" pitchFamily="34" charset="0"/>
                <a:ea typeface="Arial" pitchFamily="34" charset="-122"/>
                <a:cs typeface="Arial" pitchFamily="34" charset="-120"/>
              </a:rPr>
              <a:t>WHAT WE TRIED</a:t>
            </a:r>
            <a:endParaRPr lang="en-US" sz="1100" dirty="0"/>
          </a:p>
        </p:txBody>
      </p:sp>
      <p:sp>
        <p:nvSpPr>
          <p:cNvPr id="7" name="Try name"/>
          <p:cNvSpPr/>
          <p:nvPr/>
        </p:nvSpPr>
        <p:spPr>
          <a:xfrm>
            <a:off x="1078992" y="2350000"/>
            <a:ext cx="2788920" cy="230000"/>
          </a:xfrm>
          <a:prstGeom prst="rect">
            <a:avLst/>
          </a:prstGeom>
          <a:noFill/>
          <a:ln/>
        </p:spPr>
        <p:txBody>
          <a:bodyPr wrap="square" lIns="0" tIns="0" rIns="0" bIns="0" rtlCol="0" anchor="ctr">
            <a:normAutofit/>
          </a:bodyPr>
          <a:lstStyle/>
          <a:p>
            <a:pPr indent="0" marL="0" algn="l">
              <a:buNone/>
            </a:pPr>
            <a:r>
              <a:rPr lang="en-US" sz="1250" b="1" dirty="0">
                <a:solidFill>
                  <a:srgbClr val="111111"/>
                </a:solidFill>
                <a:latin typeface="Arial" pitchFamily="34" charset="0"/>
                <a:ea typeface="Arial" pitchFamily="34" charset="-122"/>
                <a:cs typeface="Arial" pitchFamily="34" charset="-120"/>
              </a:rPr>
              <a:t>Pattern averages</a:t>
            </a:r>
            <a:endParaRPr lang="en-US" sz="1250" dirty="0"/>
          </a:p>
        </p:txBody>
      </p:sp>
      <p:sp>
        <p:nvSpPr>
          <p:cNvPr id="8" name="Try reason"/>
          <p:cNvSpPr/>
          <p:nvPr/>
        </p:nvSpPr>
        <p:spPr>
          <a:xfrm>
            <a:off x="1078992" y="2595000"/>
            <a:ext cx="2788920" cy="330000"/>
          </a:xfrm>
          <a:prstGeom prst="rect">
            <a:avLst/>
          </a:prstGeom>
          <a:noFill/>
          <a:ln/>
        </p:spPr>
        <p:txBody>
          <a:bodyPr wrap="square" lIns="0" tIns="0" rIns="0" bIns="0" rtlCol="0" anchor="ctr">
            <a:normAutofit/>
          </a:bodyPr>
          <a:lstStyle/>
          <a:p>
            <a:pPr indent="0" marL="0" algn="l">
              <a:buNone/>
            </a:pPr>
            <a:r>
              <a:rPr lang="en-US" sz="1120" dirty="0">
                <a:solidFill>
                  <a:srgbClr val="555555"/>
                </a:solidFill>
                <a:latin typeface="Arial" pitchFamily="34" charset="0"/>
                <a:ea typeface="Arial" pitchFamily="34" charset="-122"/>
                <a:cs typeface="Arial" pitchFamily="34" charset="-120"/>
              </a:rPr>
              <a:t>too static; misses history/frequency detail</a:t>
            </a:r>
            <a:endParaRPr lang="en-US" sz="1120" dirty="0"/>
          </a:p>
        </p:txBody>
      </p:sp>
      <p:sp>
        <p:nvSpPr>
          <p:cNvPr id="9" name="Row line"/>
          <p:cNvSpPr/>
          <p:nvPr/>
        </p:nvSpPr>
        <p:spPr>
          <a:xfrm>
            <a:off x="1078992" y="2942000"/>
            <a:ext cx="2697480" cy="0"/>
          </a:xfrm>
          <a:prstGeom prst="line">
            <a:avLst/>
          </a:prstGeom>
          <a:noFill/>
          <a:ln w="12700">
            <a:solidFill>
              <a:srgbClr val="E4E8EE"/>
            </a:solidFill>
          </a:ln>
        </p:spPr>
      </p:sp>
      <p:sp>
        <p:nvSpPr>
          <p:cNvPr id="10" name="Try name"/>
          <p:cNvSpPr/>
          <p:nvPr/>
        </p:nvSpPr>
        <p:spPr>
          <a:xfrm>
            <a:off x="1078992" y="2995000"/>
            <a:ext cx="2788920" cy="230000"/>
          </a:xfrm>
          <a:prstGeom prst="rect">
            <a:avLst/>
          </a:prstGeom>
          <a:noFill/>
          <a:ln/>
        </p:spPr>
        <p:txBody>
          <a:bodyPr wrap="square" lIns="0" tIns="0" rIns="0" bIns="0" rtlCol="0" anchor="ctr">
            <a:normAutofit/>
          </a:bodyPr>
          <a:lstStyle/>
          <a:p>
            <a:pPr indent="0" marL="0" algn="l">
              <a:buNone/>
            </a:pPr>
            <a:r>
              <a:rPr lang="en-US" sz="1250" b="1" dirty="0">
                <a:solidFill>
                  <a:srgbClr val="111111"/>
                </a:solidFill>
                <a:latin typeface="Arial" pitchFamily="34" charset="0"/>
                <a:ea typeface="Arial" pitchFamily="34" charset="-122"/>
                <a:cs typeface="Arial" pitchFamily="34" charset="-120"/>
              </a:rPr>
              <a:t>BCE C4 + GRU + freqRBF</a:t>
            </a:r>
            <a:endParaRPr lang="en-US" sz="1250" dirty="0"/>
          </a:p>
        </p:txBody>
      </p:sp>
      <p:sp>
        <p:nvSpPr>
          <p:cNvPr id="11" name="Try reason"/>
          <p:cNvSpPr/>
          <p:nvPr/>
        </p:nvSpPr>
        <p:spPr>
          <a:xfrm>
            <a:off x="1078992" y="3240000"/>
            <a:ext cx="2788920" cy="330000"/>
          </a:xfrm>
          <a:prstGeom prst="rect">
            <a:avLst/>
          </a:prstGeom>
          <a:noFill/>
          <a:ln/>
        </p:spPr>
        <p:txBody>
          <a:bodyPr wrap="square" lIns="0" tIns="0" rIns="0" bIns="0" rtlCol="0" anchor="ctr">
            <a:normAutofit/>
          </a:bodyPr>
          <a:lstStyle/>
          <a:p>
            <a:pPr indent="0" marL="0" algn="l">
              <a:buNone/>
            </a:pPr>
            <a:r>
              <a:rPr lang="en-US" sz="1120" dirty="0">
                <a:solidFill>
                  <a:srgbClr val="555555"/>
                </a:solidFill>
                <a:latin typeface="Arial" pitchFamily="34" charset="0"/>
                <a:ea typeface="Arial" pitchFamily="34" charset="-122"/>
                <a:cs typeface="Arial" pitchFamily="34" charset="-120"/>
              </a:rPr>
              <a:t>strong BCE baseline, not W1-aligned</a:t>
            </a:r>
            <a:endParaRPr lang="en-US" sz="1120" dirty="0"/>
          </a:p>
        </p:txBody>
      </p:sp>
      <p:sp>
        <p:nvSpPr>
          <p:cNvPr id="12" name="Row line"/>
          <p:cNvSpPr/>
          <p:nvPr/>
        </p:nvSpPr>
        <p:spPr>
          <a:xfrm>
            <a:off x="1078992" y="3587000"/>
            <a:ext cx="2697480" cy="0"/>
          </a:xfrm>
          <a:prstGeom prst="line">
            <a:avLst/>
          </a:prstGeom>
          <a:noFill/>
          <a:ln w="12700">
            <a:solidFill>
              <a:srgbClr val="E4E8EE"/>
            </a:solidFill>
          </a:ln>
        </p:spPr>
      </p:sp>
      <p:sp>
        <p:nvSpPr>
          <p:cNvPr id="13" name="Try name"/>
          <p:cNvSpPr/>
          <p:nvPr/>
        </p:nvSpPr>
        <p:spPr>
          <a:xfrm>
            <a:off x="1078992" y="3640000"/>
            <a:ext cx="2788920" cy="230000"/>
          </a:xfrm>
          <a:prstGeom prst="rect">
            <a:avLst/>
          </a:prstGeom>
          <a:noFill/>
          <a:ln/>
        </p:spPr>
        <p:txBody>
          <a:bodyPr wrap="square" lIns="0" tIns="0" rIns="0" bIns="0" rtlCol="0" anchor="ctr">
            <a:normAutofit/>
          </a:bodyPr>
          <a:lstStyle/>
          <a:p>
            <a:pPr indent="0" marL="0" algn="l">
              <a:buNone/>
            </a:pPr>
            <a:r>
              <a:rPr lang="en-US" sz="1250" b="1" dirty="0">
                <a:solidFill>
                  <a:srgbClr val="111111"/>
                </a:solidFill>
                <a:latin typeface="Arial" pitchFamily="34" charset="0"/>
                <a:ea typeface="Arial" pitchFamily="34" charset="-122"/>
                <a:cs typeface="Arial" pitchFamily="34" charset="-120"/>
              </a:rPr>
              <a:t>Loop/gated topology</a:t>
            </a:r>
            <a:endParaRPr lang="en-US" sz="1250" dirty="0"/>
          </a:p>
        </p:txBody>
      </p:sp>
      <p:sp>
        <p:nvSpPr>
          <p:cNvPr id="14" name="Try reason"/>
          <p:cNvSpPr/>
          <p:nvPr/>
        </p:nvSpPr>
        <p:spPr>
          <a:xfrm>
            <a:off x="1078992" y="3885000"/>
            <a:ext cx="2788920" cy="330000"/>
          </a:xfrm>
          <a:prstGeom prst="rect">
            <a:avLst/>
          </a:prstGeom>
          <a:noFill/>
          <a:ln/>
        </p:spPr>
        <p:txBody>
          <a:bodyPr wrap="square" lIns="0" tIns="0" rIns="0" bIns="0" rtlCol="0" anchor="ctr">
            <a:normAutofit/>
          </a:bodyPr>
          <a:lstStyle/>
          <a:p>
            <a:pPr indent="0" marL="0" algn="l">
              <a:buNone/>
            </a:pPr>
            <a:r>
              <a:rPr lang="en-US" sz="1120" dirty="0">
                <a:solidFill>
                  <a:srgbClr val="555555"/>
                </a:solidFill>
                <a:latin typeface="Arial" pitchFamily="34" charset="0"/>
                <a:ea typeface="Arial" pitchFamily="34" charset="-122"/>
                <a:cs typeface="Arial" pitchFamily="34" charset="-120"/>
              </a:rPr>
              <a:t>limited DIV21 W1 gain; setup changed</a:t>
            </a:r>
            <a:endParaRPr lang="en-US" sz="1120" dirty="0"/>
          </a:p>
        </p:txBody>
      </p:sp>
      <p:sp>
        <p:nvSpPr>
          <p:cNvPr id="15" name="Row line"/>
          <p:cNvSpPr/>
          <p:nvPr/>
        </p:nvSpPr>
        <p:spPr>
          <a:xfrm>
            <a:off x="1078992" y="4232000"/>
            <a:ext cx="2697480" cy="0"/>
          </a:xfrm>
          <a:prstGeom prst="line">
            <a:avLst/>
          </a:prstGeom>
          <a:noFill/>
          <a:ln w="12700">
            <a:solidFill>
              <a:srgbClr val="E4E8EE"/>
            </a:solidFill>
          </a:ln>
        </p:spPr>
      </p:sp>
      <p:sp>
        <p:nvSpPr>
          <p:cNvPr id="16" name="Try name"/>
          <p:cNvSpPr/>
          <p:nvPr/>
        </p:nvSpPr>
        <p:spPr>
          <a:xfrm>
            <a:off x="1078992" y="4285000"/>
            <a:ext cx="2788920" cy="230000"/>
          </a:xfrm>
          <a:prstGeom prst="rect">
            <a:avLst/>
          </a:prstGeom>
          <a:noFill/>
          <a:ln/>
        </p:spPr>
        <p:txBody>
          <a:bodyPr wrap="square" lIns="0" tIns="0" rIns="0" bIns="0" rtlCol="0" anchor="ctr">
            <a:normAutofit/>
          </a:bodyPr>
          <a:lstStyle/>
          <a:p>
            <a:pPr indent="0" marL="0" algn="l">
              <a:buNone/>
            </a:pPr>
            <a:r>
              <a:rPr lang="en-US" sz="1250" b="1" dirty="0">
                <a:solidFill>
                  <a:srgbClr val="111111"/>
                </a:solidFill>
                <a:latin typeface="Arial" pitchFamily="34" charset="0"/>
                <a:ea typeface="Arial" pitchFamily="34" charset="-122"/>
                <a:cs typeface="Arial" pitchFamily="34" charset="-120"/>
              </a:rPr>
              <a:t>Raw neural model only</a:t>
            </a:r>
            <a:endParaRPr lang="en-US" sz="1250" dirty="0"/>
          </a:p>
        </p:txBody>
      </p:sp>
      <p:sp>
        <p:nvSpPr>
          <p:cNvPr id="17" name="Try reason"/>
          <p:cNvSpPr/>
          <p:nvPr/>
        </p:nvSpPr>
        <p:spPr>
          <a:xfrm>
            <a:off x="1078992" y="4530000"/>
            <a:ext cx="2788920" cy="330000"/>
          </a:xfrm>
          <a:prstGeom prst="rect">
            <a:avLst/>
          </a:prstGeom>
          <a:noFill/>
          <a:ln/>
        </p:spPr>
        <p:txBody>
          <a:bodyPr wrap="square" lIns="0" tIns="0" rIns="0" bIns="0" rtlCol="0" anchor="ctr">
            <a:normAutofit/>
          </a:bodyPr>
          <a:lstStyle/>
          <a:p>
            <a:pPr indent="0" marL="0" algn="l">
              <a:buNone/>
            </a:pPr>
            <a:r>
              <a:rPr lang="en-US" sz="1120" dirty="0">
                <a:solidFill>
                  <a:srgbClr val="555555"/>
                </a:solidFill>
                <a:latin typeface="Arial" pitchFamily="34" charset="0"/>
                <a:ea typeface="Arial" pitchFamily="34" charset="-122"/>
                <a:cs typeface="Arial" pitchFamily="34" charset="-120"/>
              </a:rPr>
              <a:t>worse than W1-selected blend</a:t>
            </a:r>
            <a:endParaRPr lang="en-US" sz="1120" dirty="0"/>
          </a:p>
        </p:txBody>
      </p:sp>
      <p:pic>
        <p:nvPicPr>
          <p:cNvPr id="21" name="Training W1 curve"/>
          <p:cNvPicPr>
            <a:picLocks noChangeAspect="1"/>
          </p:cNvPicPr>
          <p:nvPr/>
        </p:nvPicPr>
        <p:blipFill>
          <a:blip r:embed="rId1"/>
          <a:stretch>
            <a:fillRect/>
          </a:stretch>
        </p:blipFill>
        <p:spPr>
          <a:xfrm>
            <a:off x="4526280" y="1783080"/>
            <a:ext cx="6720840" cy="3720000"/>
          </a:xfrm>
          <a:prstGeom prst="rect">
            <a:avLst/>
          </a:prstGeom>
        </p:spPr>
      </p:pic>
      <p:sp>
        <p:nvSpPr>
          <p:cNvPr id="22" name="Caption divider"/>
          <p:cNvSpPr/>
          <p:nvPr/>
        </p:nvSpPr>
        <p:spPr>
          <a:xfrm>
            <a:off x="4526280" y="5650000"/>
            <a:ext cx="6720840" cy="0"/>
          </a:xfrm>
          <a:prstGeom prst="line">
            <a:avLst/>
          </a:prstGeom>
          <a:noFill/>
          <a:ln w="12700">
            <a:solidFill>
              <a:srgbClr val="E5E5E5"/>
            </a:solidFill>
          </a:ln>
        </p:spPr>
      </p:sp>
      <p:sp>
        <p:nvSpPr>
          <p:cNvPr id="23" name="Caption"/>
          <p:cNvSpPr/>
          <p:nvPr/>
        </p:nvSpPr>
        <p:spPr>
          <a:xfrm>
            <a:off x="4526280" y="5770000"/>
            <a:ext cx="6720840" cy="310896"/>
          </a:xfrm>
          <a:prstGeom prst="rect">
            <a:avLst/>
          </a:prstGeom>
          <a:noFill/>
          <a:ln/>
        </p:spPr>
        <p:txBody>
          <a:bodyPr wrap="square" lIns="0" tIns="0" rIns="0" bIns="0" rtlCol="0" anchor="ctr">
            <a:normAutofit/>
          </a:bodyPr>
          <a:lstStyle/>
          <a:p>
            <a:pPr indent="0" marL="0" algn="l">
              <a:buNone/>
            </a:pPr>
            <a:r>
              <a:rPr lang="en-US" sz="1200" dirty="0">
                <a:solidFill>
                  <a:srgbClr val="555555"/>
                </a:solidFill>
                <a:latin typeface="Arial" pitchFamily="34" charset="0"/>
                <a:ea typeface="Arial" pitchFamily="34" charset="-122"/>
                <a:cs typeface="Arial" pitchFamily="34" charset="-120"/>
              </a:rPr>
              <a:t>Selection switched from BCE-only checkpoints to a final-style weighted 1 ms PSTH W1 proxy.</a:t>
            </a:r>
            <a:endParaRPr lang="en-US" sz="1200" dirty="0"/>
          </a:p>
        </p:txBody>
      </p:sp>
      <p:pic>
        <p:nvPicPr>
          <p:cNvPr id="24" name="Image footer logo"/>
          <p:cNvPicPr>
            <a:picLocks noChangeAspect="1"/>
          </p:cNvPicPr>
          <p:nvPr/>
        </p:nvPicPr>
        <p:blipFill>
          <a:blip r:embed="rId2"/>
          <a:stretch>
            <a:fillRect/>
          </a:stretch>
        </p:blipFill>
        <p:spPr>
          <a:xfrm>
            <a:off x="566928" y="6355080"/>
            <a:ext cx="1143000" cy="187452"/>
          </a:xfrm>
          <a:prstGeom prst="rect">
            <a:avLst/>
          </a:prstGeom>
        </p:spPr>
      </p:pic>
      <p:sp>
        <p:nvSpPr>
          <p:cNvPr id="25" name="Footer"/>
          <p:cNvSpPr/>
          <p:nvPr/>
        </p:nvSpPr>
        <p:spPr>
          <a:xfrm>
            <a:off x="2331720" y="6345936"/>
            <a:ext cx="3840480" cy="228600"/>
          </a:xfrm>
          <a:prstGeom prst="rect">
            <a:avLst/>
          </a:prstGeom>
          <a:noFill/>
          <a:ln/>
        </p:spPr>
        <p:txBody>
          <a:bodyPr wrap="square" lIns="0" tIns="0" rIns="0" bIns="0" rtlCol="0" anchor="ctr">
            <a:normAutofit/>
          </a:bodyPr>
          <a:lstStyle/>
          <a:p>
            <a:pPr indent="0" marL="0" algn="l">
              <a:buNone/>
            </a:pPr>
            <a:r>
              <a:rPr lang="en-US" sz="1200" dirty="0">
                <a:solidFill>
                  <a:srgbClr val="777777"/>
                </a:solidFill>
                <a:latin typeface="Arial" pitchFamily="34" charset="0"/>
                <a:ea typeface="Arial" pitchFamily="34" charset="-122"/>
                <a:cs typeface="Arial" pitchFamily="34" charset="-120"/>
              </a:rPr>
              <a:t>Group 4 · Task 2 Prediction</a:t>
            </a:r>
            <a:endParaRPr lang="en-US" sz="1200" dirty="0"/>
          </a:p>
        </p:txBody>
      </p:sp>
      <p:sp>
        <p:nvSpPr>
          <p:cNvPr id="26" name="Slide number"/>
          <p:cNvSpPr/>
          <p:nvPr/>
        </p:nvSpPr>
        <p:spPr>
          <a:xfrm>
            <a:off x="11201400" y="6345936"/>
            <a:ext cx="228600" cy="228600"/>
          </a:xfrm>
          <a:prstGeom prst="rect">
            <a:avLst/>
          </a:prstGeom>
          <a:noFill/>
          <a:ln/>
        </p:spPr>
        <p:txBody>
          <a:bodyPr wrap="square" lIns="0" tIns="0" rIns="0" bIns="0" rtlCol="0" anchor="ctr">
            <a:normAutofit/>
          </a:bodyPr>
          <a:lstStyle/>
          <a:p>
            <a:pPr indent="0" marL="0" algn="r">
              <a:buNone/>
            </a:pPr>
            <a:r>
              <a:rPr lang="en-US" sz="1200" dirty="0">
                <a:solidFill>
                  <a:srgbClr val="777777"/>
                </a:solidFill>
                <a:latin typeface="Arial" pitchFamily="34" charset="0"/>
                <a:ea typeface="Arial" pitchFamily="34" charset="-122"/>
                <a:cs typeface="Arial"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822960" y="502920"/>
            <a:ext cx="10012680" cy="502920"/>
          </a:xfrm>
          <a:prstGeom prst="rect">
            <a:avLst/>
          </a:prstGeom>
          <a:noFill/>
          <a:ln/>
        </p:spPr>
        <p:txBody>
          <a:bodyPr wrap="square" lIns="0" tIns="0" rIns="0" bIns="0" rtlCol="0" anchor="ctr">
            <a:normAutofit/>
          </a:bodyPr>
          <a:lstStyle/>
          <a:p>
            <a:pPr indent="0" marL="0" algn="l">
              <a:buNone/>
            </a:pPr>
            <a:r>
              <a:rPr lang="en-US" sz="2900" b="1" dirty="0">
                <a:solidFill>
                  <a:srgbClr val="111111"/>
                </a:solidFill>
                <a:latin typeface="Arial" pitchFamily="34" charset="0"/>
                <a:ea typeface="Arial" pitchFamily="34" charset="-122"/>
                <a:cs typeface="Arial" pitchFamily="34" charset="-120"/>
              </a:rPr>
              <a:t>Results: W1 improves after baseline/model blending</a:t>
            </a:r>
            <a:endParaRPr lang="en-US" sz="2900" dirty="0"/>
          </a:p>
        </p:txBody>
      </p:sp>
      <p:sp>
        <p:nvSpPr>
          <p:cNvPr id="3" name="Subtitle"/>
          <p:cNvSpPr/>
          <p:nvPr/>
        </p:nvSpPr>
        <p:spPr>
          <a:xfrm>
            <a:off x="850392" y="1069848"/>
            <a:ext cx="10012680" cy="256032"/>
          </a:xfrm>
          <a:prstGeom prst="rect">
            <a:avLst/>
          </a:prstGeom>
          <a:noFill/>
          <a:ln/>
        </p:spPr>
        <p:txBody>
          <a:bodyPr wrap="square" lIns="0" tIns="0" rIns="0" bIns="0" rtlCol="0" anchor="ctr">
            <a:normAutofit/>
          </a:bodyPr>
          <a:lstStyle/>
          <a:p>
            <a:pPr indent="0" marL="0" algn="l">
              <a:buNone/>
            </a:pPr>
            <a:r>
              <a:rPr lang="en-US" sz="1200" dirty="0">
                <a:solidFill>
                  <a:srgbClr val="666666"/>
                </a:solidFill>
                <a:latin typeface="Arial" pitchFamily="34" charset="0"/>
                <a:ea typeface="Arial" pitchFamily="34" charset="-122"/>
                <a:cs typeface="Arial" pitchFamily="34" charset="-120"/>
              </a:rPr>
              <a:t>The selected robust-grid seed-7 checkpoint achieved the lowest validation W1 proxy among completed runs.</a:t>
            </a:r>
            <a:endParaRPr lang="en-US" sz="1200" dirty="0"/>
          </a:p>
        </p:txBody>
      </p:sp>
      <p:sp>
        <p:nvSpPr>
          <p:cNvPr id="4" name="Divider"/>
          <p:cNvSpPr/>
          <p:nvPr/>
        </p:nvSpPr>
        <p:spPr>
          <a:xfrm>
            <a:off x="822960" y="1417320"/>
            <a:ext cx="10607040" cy="0"/>
          </a:xfrm>
          <a:prstGeom prst="line">
            <a:avLst/>
          </a:prstGeom>
          <a:noFill/>
          <a:ln w="12700">
            <a:solidFill>
              <a:srgbClr val="E5E5E5"/>
            </a:solidFill>
          </a:ln>
        </p:spPr>
      </p:sp>
      <p:sp>
        <p:nvSpPr>
          <p:cNvPr id="5" name="Main metric"/>
          <p:cNvSpPr/>
          <p:nvPr/>
        </p:nvSpPr>
        <p:spPr>
          <a:xfrm>
            <a:off x="868680" y="1847088"/>
            <a:ext cx="2148840" cy="658368"/>
          </a:xfrm>
          <a:prstGeom prst="rect">
            <a:avLst/>
          </a:prstGeom>
          <a:noFill/>
          <a:ln/>
        </p:spPr>
        <p:txBody>
          <a:bodyPr wrap="square" lIns="0" tIns="0" rIns="0" bIns="0" rtlCol="0" anchor="ctr">
            <a:normAutofit/>
          </a:bodyPr>
          <a:lstStyle/>
          <a:p>
            <a:pPr indent="0" marL="0" algn="c">
              <a:buNone/>
            </a:pPr>
            <a:r>
              <a:rPr lang="en-US" sz="3100" b="1" dirty="0">
                <a:solidFill>
                  <a:srgbClr val="111111"/>
                </a:solidFill>
                <a:latin typeface="Arial" pitchFamily="34" charset="0"/>
                <a:ea typeface="Arial" pitchFamily="34" charset="-122"/>
                <a:cs typeface="Arial" pitchFamily="34" charset="-120"/>
              </a:rPr>
              <a:t>0.3506 ms</a:t>
            </a:r>
            <a:endParaRPr lang="en-US" sz="3100" dirty="0"/>
          </a:p>
        </p:txBody>
      </p:sp>
      <p:sp>
        <p:nvSpPr>
          <p:cNvPr id="6" name="Main metric label"/>
          <p:cNvSpPr/>
          <p:nvPr/>
        </p:nvSpPr>
        <p:spPr>
          <a:xfrm>
            <a:off x="896112" y="2505456"/>
            <a:ext cx="2148840" cy="228600"/>
          </a:xfrm>
          <a:prstGeom prst="rect">
            <a:avLst/>
          </a:prstGeom>
          <a:noFill/>
          <a:ln/>
        </p:spPr>
        <p:txBody>
          <a:bodyPr wrap="square" lIns="0" tIns="0" rIns="0" bIns="0" rtlCol="0" anchor="ctr">
            <a:normAutofit/>
          </a:bodyPr>
          <a:lstStyle/>
          <a:p>
            <a:pPr indent="0" marL="0" algn="c">
              <a:buNone/>
            </a:pPr>
            <a:r>
              <a:rPr lang="en-US" sz="1150" dirty="0">
                <a:solidFill>
                  <a:srgbClr val="666666"/>
                </a:solidFill>
                <a:latin typeface="Arial" pitchFamily="34" charset="0"/>
                <a:ea typeface="Arial" pitchFamily="34" charset="-122"/>
                <a:cs typeface="Arial" pitchFamily="34" charset="-120"/>
              </a:rPr>
              <a:t>blended weighted W1 proxy</a:t>
            </a:r>
            <a:endParaRPr lang="en-US" sz="1150" dirty="0"/>
          </a:p>
        </p:txBody>
      </p:sp>
      <p:sp>
        <p:nvSpPr>
          <p:cNvPr id="7" name="Accuracy note"/>
          <p:cNvSpPr/>
          <p:nvPr/>
        </p:nvSpPr>
        <p:spPr>
          <a:xfrm>
            <a:off x="896112" y="2898648"/>
            <a:ext cx="2148840" cy="228600"/>
          </a:xfrm>
          <a:prstGeom prst="rect">
            <a:avLst/>
          </a:prstGeom>
          <a:noFill/>
          <a:ln/>
        </p:spPr>
        <p:txBody>
          <a:bodyPr wrap="square" lIns="0" tIns="0" rIns="0" bIns="0" rtlCol="0" anchor="ctr">
            <a:normAutofit/>
          </a:bodyPr>
          <a:lstStyle/>
          <a:p>
            <a:pPr indent="0" marL="0" algn="c">
              <a:buNone/>
            </a:pPr>
            <a:r>
              <a:rPr lang="en-US" sz="1100" dirty="0">
                <a:solidFill>
                  <a:srgbClr val="666666"/>
                </a:solidFill>
                <a:latin typeface="Arial" pitchFamily="34" charset="0"/>
                <a:ea typeface="Arial" pitchFamily="34" charset="-122"/>
                <a:cs typeface="Arial" pitchFamily="34" charset="-120"/>
              </a:rPr>
              <a:t>selected submission checkpoint</a:t>
            </a:r>
            <a:endParaRPr lang="en-US" sz="1100" dirty="0"/>
          </a:p>
        </p:txBody>
      </p:sp>
      <p:sp>
        <p:nvSpPr>
          <p:cNvPr id="8" name="Shape note"/>
          <p:cNvSpPr/>
          <p:nvPr/>
        </p:nvSpPr>
        <p:spPr>
          <a:xfrm>
            <a:off x="896112" y="3218688"/>
            <a:ext cx="2148840" cy="228600"/>
          </a:xfrm>
          <a:prstGeom prst="rect">
            <a:avLst/>
          </a:prstGeom>
          <a:noFill/>
          <a:ln/>
        </p:spPr>
        <p:txBody>
          <a:bodyPr wrap="square" lIns="0" tIns="0" rIns="0" bIns="0" rtlCol="0" anchor="ctr">
            <a:normAutofit/>
          </a:bodyPr>
          <a:lstStyle/>
          <a:p>
            <a:pPr indent="0" marL="0" algn="c">
              <a:buNone/>
            </a:pPr>
            <a:r>
              <a:rPr lang="en-US" sz="1050" dirty="0">
                <a:solidFill>
                  <a:srgbClr val="666666"/>
                </a:solidFill>
                <a:latin typeface="Arial" pitchFamily="34" charset="0"/>
                <a:ea typeface="Arial" pitchFamily="34" charset="-122"/>
                <a:cs typeface="Arial" pitchFamily="34" charset="-120"/>
              </a:rPr>
              <a:t>test output: 9,839 x 105 x 80</a:t>
            </a:r>
            <a:endParaRPr lang="en-US" sz="1050" dirty="0"/>
          </a:p>
        </p:txBody>
      </p:sp>
      <p:sp>
        <p:nvSpPr>
          <p:cNvPr id="9" name="Result card"/>
          <p:cNvSpPr/>
          <p:nvPr/>
        </p:nvSpPr>
        <p:spPr>
          <a:xfrm>
            <a:off x="3429000" y="1874520"/>
            <a:ext cx="2331720" cy="1600000"/>
          </a:xfrm>
          <a:prstGeom prst="rect">
            <a:avLst/>
          </a:prstGeom>
          <a:solidFill>
            <a:srgbClr val="EEF6F3"/>
          </a:solidFill>
          <a:ln w="12700">
            <a:solidFill>
              <a:srgbClr val="BFD8CE"/>
            </a:solidFill>
          </a:ln>
        </p:spPr>
      </p:sp>
      <p:sp>
        <p:nvSpPr>
          <p:cNvPr id="10" name="Result label"/>
          <p:cNvSpPr/>
          <p:nvPr/>
        </p:nvSpPr>
        <p:spPr>
          <a:xfrm>
            <a:off x="3639312" y="2121408"/>
            <a:ext cx="1920240" cy="182880"/>
          </a:xfrm>
          <a:prstGeom prst="rect">
            <a:avLst/>
          </a:prstGeom>
          <a:noFill/>
          <a:ln/>
        </p:spPr>
        <p:txBody>
          <a:bodyPr wrap="square" lIns="0" tIns="0" rIns="0" bIns="0" rtlCol="0" anchor="ctr">
            <a:normAutofit/>
          </a:bodyPr>
          <a:lstStyle/>
          <a:p>
            <a:pPr indent="0" marL="0" algn="l">
              <a:buNone/>
            </a:pPr>
            <a:r>
              <a:rPr lang="en-US" sz="1050" b="1" dirty="0">
                <a:solidFill>
                  <a:srgbClr val="1F4E79"/>
                </a:solidFill>
                <a:latin typeface="Arial" pitchFamily="34" charset="0"/>
                <a:ea typeface="Arial" pitchFamily="34" charset="-122"/>
                <a:cs typeface="Arial" pitchFamily="34" charset="-120"/>
              </a:rPr>
              <a:t>RAW MODEL</a:t>
            </a:r>
            <a:endParaRPr lang="en-US" sz="1050" dirty="0"/>
          </a:p>
        </p:txBody>
      </p:sp>
      <p:sp>
        <p:nvSpPr>
          <p:cNvPr id="11" name="Result big"/>
          <p:cNvSpPr/>
          <p:nvPr/>
        </p:nvSpPr>
        <p:spPr>
          <a:xfrm>
            <a:off x="3639312" y="2468880"/>
            <a:ext cx="1200000" cy="360000"/>
          </a:xfrm>
          <a:prstGeom prst="rect">
            <a:avLst/>
          </a:prstGeom>
          <a:noFill/>
          <a:ln/>
        </p:spPr>
        <p:txBody>
          <a:bodyPr wrap="square" lIns="0" tIns="0" rIns="0" bIns="0" rtlCol="0" anchor="ctr">
            <a:normAutofit/>
          </a:bodyPr>
          <a:lstStyle/>
          <a:p>
            <a:pPr indent="0" marL="0" algn="l">
              <a:buNone/>
            </a:pPr>
            <a:r>
              <a:rPr lang="en-US" sz="2200" b="1" dirty="0">
                <a:solidFill>
                  <a:srgbClr val="111111"/>
                </a:solidFill>
                <a:latin typeface="Arial" pitchFamily="34" charset="0"/>
                <a:ea typeface="Arial" pitchFamily="34" charset="-122"/>
                <a:cs typeface="Arial" pitchFamily="34" charset="-120"/>
              </a:rPr>
              <a:t>23.3%</a:t>
            </a:r>
            <a:endParaRPr lang="en-US" sz="2200" dirty="0"/>
          </a:p>
        </p:txBody>
      </p:sp>
      <p:sp>
        <p:nvSpPr>
          <p:cNvPr id="12" name="Result small"/>
          <p:cNvSpPr/>
          <p:nvPr/>
        </p:nvSpPr>
        <p:spPr>
          <a:xfrm>
            <a:off x="3639312" y="3035808"/>
            <a:ext cx="1847088" cy="384048"/>
          </a:xfrm>
          <a:prstGeom prst="rect">
            <a:avLst/>
          </a:prstGeom>
          <a:noFill/>
          <a:ln/>
        </p:spPr>
        <p:txBody>
          <a:bodyPr wrap="square" lIns="0" tIns="0" rIns="0" bIns="0" rtlCol="0" anchor="ctr">
            <a:normAutofit/>
          </a:bodyPr>
          <a:lstStyle/>
          <a:p>
            <a:pPr indent="0" marL="0" algn="l">
              <a:buNone/>
            </a:pPr>
            <a:r>
              <a:rPr lang="en-US" sz="1150" dirty="0">
                <a:solidFill>
                  <a:srgbClr val="555555"/>
                </a:solidFill>
                <a:latin typeface="Arial" pitchFamily="34" charset="0"/>
                <a:ea typeface="Arial" pitchFamily="34" charset="-122"/>
                <a:cs typeface="Arial" pitchFamily="34" charset="-120"/>
              </a:rPr>
              <a:t>better than raw model</a:t>
            </a:r>
            <a:endParaRPr lang="en-US" sz="1150" dirty="0"/>
          </a:p>
        </p:txBody>
      </p:sp>
      <p:sp>
        <p:nvSpPr>
          <p:cNvPr id="13" name="Result card"/>
          <p:cNvSpPr/>
          <p:nvPr/>
        </p:nvSpPr>
        <p:spPr>
          <a:xfrm>
            <a:off x="6126480" y="1874520"/>
            <a:ext cx="2331720" cy="1600000"/>
          </a:xfrm>
          <a:prstGeom prst="rect">
            <a:avLst/>
          </a:prstGeom>
          <a:solidFill>
            <a:srgbClr val="F8F5EF"/>
          </a:solidFill>
          <a:ln w="12700">
            <a:solidFill>
              <a:srgbClr val="E5C88C"/>
            </a:solidFill>
          </a:ln>
        </p:spPr>
      </p:sp>
      <p:sp>
        <p:nvSpPr>
          <p:cNvPr id="14" name="Result label"/>
          <p:cNvSpPr/>
          <p:nvPr/>
        </p:nvSpPr>
        <p:spPr>
          <a:xfrm>
            <a:off x="6336792" y="2121408"/>
            <a:ext cx="1920240" cy="182880"/>
          </a:xfrm>
          <a:prstGeom prst="rect">
            <a:avLst/>
          </a:prstGeom>
          <a:noFill/>
          <a:ln/>
        </p:spPr>
        <p:txBody>
          <a:bodyPr wrap="square" lIns="0" tIns="0" rIns="0" bIns="0" rtlCol="0" anchor="ctr">
            <a:normAutofit/>
          </a:bodyPr>
          <a:lstStyle/>
          <a:p>
            <a:pPr indent="0" marL="0" algn="l">
              <a:buNone/>
            </a:pPr>
            <a:r>
              <a:rPr lang="en-US" sz="1050" b="1" dirty="0">
                <a:solidFill>
                  <a:srgbClr val="1F4E79"/>
                </a:solidFill>
                <a:latin typeface="Arial" pitchFamily="34" charset="0"/>
                <a:ea typeface="Arial" pitchFamily="34" charset="-122"/>
                <a:cs typeface="Arial" pitchFamily="34" charset="-120"/>
              </a:rPr>
              <a:t>PATTERN BASELINE</a:t>
            </a:r>
            <a:endParaRPr lang="en-US" sz="1050" dirty="0"/>
          </a:p>
        </p:txBody>
      </p:sp>
      <p:sp>
        <p:nvSpPr>
          <p:cNvPr id="15" name="Result big"/>
          <p:cNvSpPr/>
          <p:nvPr/>
        </p:nvSpPr>
        <p:spPr>
          <a:xfrm>
            <a:off x="6336792" y="2468880"/>
            <a:ext cx="1200000" cy="360000"/>
          </a:xfrm>
          <a:prstGeom prst="rect">
            <a:avLst/>
          </a:prstGeom>
          <a:noFill/>
          <a:ln/>
        </p:spPr>
        <p:txBody>
          <a:bodyPr wrap="square" lIns="0" tIns="0" rIns="0" bIns="0" rtlCol="0" anchor="ctr">
            <a:normAutofit/>
          </a:bodyPr>
          <a:lstStyle/>
          <a:p>
            <a:pPr indent="0" marL="0" algn="l">
              <a:buNone/>
            </a:pPr>
            <a:r>
              <a:rPr lang="en-US" sz="2200" b="1" dirty="0">
                <a:solidFill>
                  <a:srgbClr val="111111"/>
                </a:solidFill>
                <a:latin typeface="Arial" pitchFamily="34" charset="0"/>
                <a:ea typeface="Arial" pitchFamily="34" charset="-122"/>
                <a:cs typeface="Arial" pitchFamily="34" charset="-120"/>
              </a:rPr>
              <a:t>31.8%</a:t>
            </a:r>
            <a:endParaRPr lang="en-US" sz="2200" dirty="0"/>
          </a:p>
        </p:txBody>
      </p:sp>
      <p:sp>
        <p:nvSpPr>
          <p:cNvPr id="16" name="Result small"/>
          <p:cNvSpPr/>
          <p:nvPr/>
        </p:nvSpPr>
        <p:spPr>
          <a:xfrm>
            <a:off x="6336792" y="3035808"/>
            <a:ext cx="1847088" cy="384048"/>
          </a:xfrm>
          <a:prstGeom prst="rect">
            <a:avLst/>
          </a:prstGeom>
          <a:noFill/>
          <a:ln/>
        </p:spPr>
        <p:txBody>
          <a:bodyPr wrap="square" lIns="0" tIns="0" rIns="0" bIns="0" rtlCol="0" anchor="ctr">
            <a:normAutofit/>
          </a:bodyPr>
          <a:lstStyle/>
          <a:p>
            <a:pPr indent="0" marL="0" algn="l">
              <a:buNone/>
            </a:pPr>
            <a:r>
              <a:rPr lang="en-US" sz="1150" dirty="0">
                <a:solidFill>
                  <a:srgbClr val="555555"/>
                </a:solidFill>
                <a:latin typeface="Arial" pitchFamily="34" charset="0"/>
                <a:ea typeface="Arial" pitchFamily="34" charset="-122"/>
                <a:cs typeface="Arial" pitchFamily="34" charset="-120"/>
              </a:rPr>
              <a:t>better than pattern baseline</a:t>
            </a:r>
            <a:endParaRPr lang="en-US" sz="1150" dirty="0"/>
          </a:p>
        </p:txBody>
      </p:sp>
      <p:sp>
        <p:nvSpPr>
          <p:cNvPr id="17" name="Result card"/>
          <p:cNvSpPr/>
          <p:nvPr/>
        </p:nvSpPr>
        <p:spPr>
          <a:xfrm>
            <a:off x="8823960" y="1874520"/>
            <a:ext cx="2423160" cy="1600000"/>
          </a:xfrm>
          <a:prstGeom prst="rect">
            <a:avLst/>
          </a:prstGeom>
          <a:solidFill>
            <a:srgbClr val="EEF2FA"/>
          </a:solidFill>
          <a:ln w="12700">
            <a:solidFill>
              <a:srgbClr val="B8C5E6"/>
            </a:solidFill>
          </a:ln>
        </p:spPr>
      </p:sp>
      <p:sp>
        <p:nvSpPr>
          <p:cNvPr id="18" name="Result label"/>
          <p:cNvSpPr/>
          <p:nvPr/>
        </p:nvSpPr>
        <p:spPr>
          <a:xfrm>
            <a:off x="9034272" y="2121408"/>
            <a:ext cx="1920240" cy="182880"/>
          </a:xfrm>
          <a:prstGeom prst="rect">
            <a:avLst/>
          </a:prstGeom>
          <a:noFill/>
          <a:ln/>
        </p:spPr>
        <p:txBody>
          <a:bodyPr wrap="square" lIns="0" tIns="0" rIns="0" bIns="0" rtlCol="0" anchor="ctr">
            <a:normAutofit/>
          </a:bodyPr>
          <a:lstStyle/>
          <a:p>
            <a:pPr indent="0" marL="0" algn="l">
              <a:buNone/>
            </a:pPr>
            <a:r>
              <a:rPr lang="en-US" sz="1050" b="1" dirty="0">
                <a:solidFill>
                  <a:srgbClr val="1F4E79"/>
                </a:solidFill>
                <a:latin typeface="Arial" pitchFamily="34" charset="0"/>
                <a:ea typeface="Arial" pitchFamily="34" charset="-122"/>
                <a:cs typeface="Arial" pitchFamily="34" charset="-120"/>
              </a:rPr>
              <a:t>COUNT FIT</a:t>
            </a:r>
            <a:endParaRPr lang="en-US" sz="1050" dirty="0"/>
          </a:p>
        </p:txBody>
      </p:sp>
      <p:sp>
        <p:nvSpPr>
          <p:cNvPr id="19" name="Result big"/>
          <p:cNvSpPr/>
          <p:nvPr/>
        </p:nvSpPr>
        <p:spPr>
          <a:xfrm>
            <a:off x="9034272" y="2468880"/>
            <a:ext cx="1200000" cy="360000"/>
          </a:xfrm>
          <a:prstGeom prst="rect">
            <a:avLst/>
          </a:prstGeom>
          <a:noFill/>
          <a:ln/>
        </p:spPr>
        <p:txBody>
          <a:bodyPr wrap="square" lIns="0" tIns="0" rIns="0" bIns="0" rtlCol="0" anchor="ctr">
            <a:normAutofit/>
          </a:bodyPr>
          <a:lstStyle/>
          <a:p>
            <a:pPr indent="0" marL="0" algn="l">
              <a:buNone/>
            </a:pPr>
            <a:r>
              <a:rPr lang="en-US" sz="2200" b="1" dirty="0">
                <a:solidFill>
                  <a:srgbClr val="111111"/>
                </a:solidFill>
                <a:latin typeface="Arial" pitchFamily="34" charset="0"/>
                <a:ea typeface="Arial" pitchFamily="34" charset="-122"/>
                <a:cs typeface="Arial" pitchFamily="34" charset="-120"/>
              </a:rPr>
              <a:t>0.91</a:t>
            </a:r>
            <a:endParaRPr lang="en-US" sz="2200" dirty="0"/>
          </a:p>
        </p:txBody>
      </p:sp>
      <p:sp>
        <p:nvSpPr>
          <p:cNvPr id="20" name="Result small"/>
          <p:cNvSpPr/>
          <p:nvPr/>
        </p:nvSpPr>
        <p:spPr>
          <a:xfrm>
            <a:off x="9034272" y="3035808"/>
            <a:ext cx="1847088" cy="384048"/>
          </a:xfrm>
          <a:prstGeom prst="rect">
            <a:avLst/>
          </a:prstGeom>
          <a:noFill/>
          <a:ln/>
        </p:spPr>
        <p:txBody>
          <a:bodyPr wrap="square" lIns="0" tIns="0" rIns="0" bIns="0" rtlCol="0" anchor="ctr">
            <a:normAutofit/>
          </a:bodyPr>
          <a:lstStyle/>
          <a:p>
            <a:pPr indent="0" marL="0" algn="l">
              <a:buNone/>
            </a:pPr>
            <a:r>
              <a:rPr lang="en-US" sz="1150" dirty="0">
                <a:solidFill>
                  <a:srgbClr val="555555"/>
                </a:solidFill>
                <a:latin typeface="Arial" pitchFamily="34" charset="0"/>
                <a:ea typeface="Arial" pitchFamily="34" charset="-122"/>
                <a:cs typeface="Arial" pitchFamily="34" charset="-120"/>
              </a:rPr>
              <a:t>total-count correlation</a:t>
            </a:r>
            <a:endParaRPr lang="en-US" sz="1150" dirty="0"/>
          </a:p>
        </p:txBody>
      </p:sp>
      <p:sp>
        <p:nvSpPr>
          <p:cNvPr id="25" name="Lower divider"/>
          <p:cNvSpPr/>
          <p:nvPr/>
        </p:nvSpPr>
        <p:spPr>
          <a:xfrm>
            <a:off x="868680" y="3930000"/>
            <a:ext cx="10378440" cy="0"/>
          </a:xfrm>
          <a:prstGeom prst="line">
            <a:avLst/>
          </a:prstGeom>
          <a:noFill/>
          <a:ln w="12700">
            <a:solidFill>
              <a:srgbClr val="E5E5E5"/>
            </a:solidFill>
          </a:ln>
        </p:spPr>
      </p:sp>
      <p:pic>
        <p:nvPicPr>
          <p:cNvPr id="26" name="PSTH true vs pred"/>
          <p:cNvPicPr>
            <a:picLocks noChangeAspect="1"/>
          </p:cNvPicPr>
          <p:nvPr/>
        </p:nvPicPr>
        <p:blipFill>
          <a:blip r:embed="rId1"/>
          <a:stretch>
            <a:fillRect/>
          </a:stretch>
        </p:blipFill>
        <p:spPr>
          <a:xfrm>
            <a:off x="868680" y="4150000"/>
            <a:ext cx="5300000" cy="2342000"/>
          </a:xfrm>
          <a:prstGeom prst="rect">
            <a:avLst/>
          </a:prstGeom>
        </p:spPr>
      </p:pic>
      <p:sp>
        <p:nvSpPr>
          <p:cNvPr id="27" name="Insight label"/>
          <p:cNvSpPr/>
          <p:nvPr/>
        </p:nvSpPr>
        <p:spPr>
          <a:xfrm>
            <a:off x="6537960" y="4210000"/>
            <a:ext cx="1600000" cy="182880"/>
          </a:xfrm>
          <a:prstGeom prst="rect">
            <a:avLst/>
          </a:prstGeom>
          <a:noFill/>
          <a:ln/>
        </p:spPr>
        <p:txBody>
          <a:bodyPr wrap="square" lIns="0" tIns="0" rIns="0" bIns="0" rtlCol="0" anchor="ctr">
            <a:normAutofit/>
          </a:bodyPr>
          <a:lstStyle/>
          <a:p>
            <a:pPr indent="0" marL="0" algn="l">
              <a:buNone/>
            </a:pPr>
            <a:r>
              <a:rPr lang="en-US" sz="1100" b="1" dirty="0">
                <a:solidFill>
                  <a:srgbClr val="1F4E79"/>
                </a:solidFill>
                <a:latin typeface="Arial" pitchFamily="34" charset="0"/>
                <a:ea typeface="Arial" pitchFamily="34" charset="-122"/>
                <a:cs typeface="Arial" pitchFamily="34" charset="-120"/>
              </a:rPr>
              <a:t>FINDINGS</a:t>
            </a:r>
            <a:endParaRPr lang="en-US" sz="1100" dirty="0"/>
          </a:p>
        </p:txBody>
      </p:sp>
      <p:sp>
        <p:nvSpPr>
          <p:cNvPr id="28" name="Finding bullet"/>
          <p:cNvSpPr/>
          <p:nvPr/>
        </p:nvSpPr>
        <p:spPr>
          <a:xfrm>
            <a:off x="6537960" y="4530000"/>
            <a:ext cx="146304" cy="201168"/>
          </a:xfrm>
          <a:prstGeom prst="rect">
            <a:avLst/>
          </a:prstGeom>
          <a:noFill/>
          <a:ln/>
        </p:spPr>
        <p:txBody>
          <a:bodyPr wrap="square" lIns="0" tIns="0" rIns="0" bIns="0" rtlCol="0" anchor="ctr">
            <a:normAutofit/>
          </a:bodyPr>
          <a:lstStyle/>
          <a:p>
            <a:pPr indent="0" marL="0" algn="l">
              <a:buNone/>
            </a:pPr>
            <a:r>
              <a:rPr lang="en-US" sz="1450" dirty="0">
                <a:solidFill>
                  <a:srgbClr val="1F4E79"/>
                </a:solidFill>
                <a:latin typeface="Arial" pitchFamily="34" charset="0"/>
                <a:ea typeface="Arial" pitchFamily="34" charset="-122"/>
                <a:cs typeface="Arial" pitchFamily="34" charset="-120"/>
              </a:rPr>
              <a:t>•</a:t>
            </a:r>
            <a:endParaRPr lang="en-US" sz="1450" dirty="0"/>
          </a:p>
        </p:txBody>
      </p:sp>
      <p:sp>
        <p:nvSpPr>
          <p:cNvPr id="29" name="Finding text"/>
          <p:cNvSpPr/>
          <p:nvPr/>
        </p:nvSpPr>
        <p:spPr>
          <a:xfrm>
            <a:off x="6740000" y="4539144"/>
            <a:ext cx="3977640" cy="330000"/>
          </a:xfrm>
          <a:prstGeom prst="rect">
            <a:avLst/>
          </a:prstGeom>
          <a:noFill/>
          <a:ln/>
        </p:spPr>
        <p:txBody>
          <a:bodyPr wrap="square" lIns="0" tIns="0" rIns="0" bIns="0" rtlCol="0" anchor="ctr">
            <a:normAutofit/>
          </a:bodyPr>
          <a:lstStyle/>
          <a:p>
            <a:pPr indent="0" marL="0" algn="l">
              <a:buNone/>
            </a:pPr>
            <a:r>
              <a:rPr lang="en-US" sz="1200" dirty="0">
                <a:solidFill>
                  <a:srgbClr val="333333"/>
                </a:solidFill>
                <a:latin typeface="Arial" pitchFamily="34" charset="0"/>
                <a:ea typeface="Arial" pitchFamily="34" charset="-122"/>
                <a:cs typeface="Arial" pitchFamily="34" charset="-120"/>
              </a:rPr>
              <a:t>Pattern-frequency priors are strong but incomplete.</a:t>
            </a:r>
            <a:endParaRPr lang="en-US" sz="1200" dirty="0"/>
          </a:p>
        </p:txBody>
      </p:sp>
      <p:sp>
        <p:nvSpPr>
          <p:cNvPr id="30" name="Finding bullet"/>
          <p:cNvSpPr/>
          <p:nvPr/>
        </p:nvSpPr>
        <p:spPr>
          <a:xfrm>
            <a:off x="6537960" y="5000000"/>
            <a:ext cx="146304" cy="201168"/>
          </a:xfrm>
          <a:prstGeom prst="rect">
            <a:avLst/>
          </a:prstGeom>
          <a:noFill/>
          <a:ln/>
        </p:spPr>
        <p:txBody>
          <a:bodyPr wrap="square" lIns="0" tIns="0" rIns="0" bIns="0" rtlCol="0" anchor="ctr">
            <a:normAutofit/>
          </a:bodyPr>
          <a:lstStyle/>
          <a:p>
            <a:pPr indent="0" marL="0" algn="l">
              <a:buNone/>
            </a:pPr>
            <a:r>
              <a:rPr lang="en-US" sz="1450" dirty="0">
                <a:solidFill>
                  <a:srgbClr val="1F4E79"/>
                </a:solidFill>
                <a:latin typeface="Arial" pitchFamily="34" charset="0"/>
                <a:ea typeface="Arial" pitchFamily="34" charset="-122"/>
                <a:cs typeface="Arial" pitchFamily="34" charset="-120"/>
              </a:rPr>
              <a:t>•</a:t>
            </a:r>
            <a:endParaRPr lang="en-US" sz="1450" dirty="0"/>
          </a:p>
        </p:txBody>
      </p:sp>
      <p:sp>
        <p:nvSpPr>
          <p:cNvPr id="31" name="Finding text"/>
          <p:cNvSpPr/>
          <p:nvPr/>
        </p:nvSpPr>
        <p:spPr>
          <a:xfrm>
            <a:off x="6740000" y="5009144"/>
            <a:ext cx="3977640" cy="330000"/>
          </a:xfrm>
          <a:prstGeom prst="rect">
            <a:avLst/>
          </a:prstGeom>
          <a:noFill/>
          <a:ln/>
        </p:spPr>
        <p:txBody>
          <a:bodyPr wrap="square" lIns="0" tIns="0" rIns="0" bIns="0" rtlCol="0" anchor="ctr">
            <a:normAutofit/>
          </a:bodyPr>
          <a:lstStyle/>
          <a:p>
            <a:pPr indent="0" marL="0" algn="l">
              <a:buNone/>
            </a:pPr>
            <a:r>
              <a:rPr lang="en-US" sz="1200" dirty="0">
                <a:solidFill>
                  <a:srgbClr val="333333"/>
                </a:solidFill>
                <a:latin typeface="Arial" pitchFamily="34" charset="0"/>
                <a:ea typeface="Arial" pitchFamily="34" charset="-122"/>
                <a:cs typeface="Arial" pitchFamily="34" charset="-120"/>
              </a:rPr>
              <a:t>The learned residual improves timing and spatial allocation.</a:t>
            </a:r>
            <a:endParaRPr lang="en-US" sz="1200" dirty="0"/>
          </a:p>
        </p:txBody>
      </p:sp>
      <p:sp>
        <p:nvSpPr>
          <p:cNvPr id="32" name="Finding bullet"/>
          <p:cNvSpPr/>
          <p:nvPr/>
        </p:nvSpPr>
        <p:spPr>
          <a:xfrm>
            <a:off x="6537960" y="5470000"/>
            <a:ext cx="146304" cy="201168"/>
          </a:xfrm>
          <a:prstGeom prst="rect">
            <a:avLst/>
          </a:prstGeom>
          <a:noFill/>
          <a:ln/>
        </p:spPr>
        <p:txBody>
          <a:bodyPr wrap="square" lIns="0" tIns="0" rIns="0" bIns="0" rtlCol="0" anchor="ctr">
            <a:normAutofit/>
          </a:bodyPr>
          <a:lstStyle/>
          <a:p>
            <a:pPr indent="0" marL="0" algn="l">
              <a:buNone/>
            </a:pPr>
            <a:r>
              <a:rPr lang="en-US" sz="1450" dirty="0">
                <a:solidFill>
                  <a:srgbClr val="1F4E79"/>
                </a:solidFill>
                <a:latin typeface="Arial" pitchFamily="34" charset="0"/>
                <a:ea typeface="Arial" pitchFamily="34" charset="-122"/>
                <a:cs typeface="Arial" pitchFamily="34" charset="-120"/>
              </a:rPr>
              <a:t>•</a:t>
            </a:r>
            <a:endParaRPr lang="en-US" sz="1450" dirty="0"/>
          </a:p>
        </p:txBody>
      </p:sp>
      <p:sp>
        <p:nvSpPr>
          <p:cNvPr id="33" name="Finding text"/>
          <p:cNvSpPr/>
          <p:nvPr/>
        </p:nvSpPr>
        <p:spPr>
          <a:xfrm>
            <a:off x="6740000" y="5479144"/>
            <a:ext cx="3977640" cy="330000"/>
          </a:xfrm>
          <a:prstGeom prst="rect">
            <a:avLst/>
          </a:prstGeom>
          <a:noFill/>
          <a:ln/>
        </p:spPr>
        <p:txBody>
          <a:bodyPr wrap="square" lIns="0" tIns="0" rIns="0" bIns="0" rtlCol="0" anchor="ctr">
            <a:normAutofit/>
          </a:bodyPr>
          <a:lstStyle/>
          <a:p>
            <a:pPr indent="0" marL="0" algn="l">
              <a:buNone/>
            </a:pPr>
            <a:r>
              <a:rPr lang="en-US" sz="1200" dirty="0">
                <a:solidFill>
                  <a:srgbClr val="333333"/>
                </a:solidFill>
                <a:latin typeface="Arial" pitchFamily="34" charset="0"/>
                <a:ea typeface="Arial" pitchFamily="34" charset="-122"/>
                <a:cs typeface="Arial" pitchFamily="34" charset="-120"/>
              </a:rPr>
              <a:t>Validation-selected blending is essential for the W1 objective.</a:t>
            </a:r>
            <a:endParaRPr lang="en-US" sz="1200" dirty="0"/>
          </a:p>
        </p:txBody>
      </p:sp>
      <p:pic>
        <p:nvPicPr>
          <p:cNvPr id="36" name="Image footer logo"/>
          <p:cNvPicPr>
            <a:picLocks noChangeAspect="1"/>
          </p:cNvPicPr>
          <p:nvPr/>
        </p:nvPicPr>
        <p:blipFill>
          <a:blip r:embed="rId2"/>
          <a:stretch>
            <a:fillRect/>
          </a:stretch>
        </p:blipFill>
        <p:spPr>
          <a:xfrm>
            <a:off x="566928" y="6355080"/>
            <a:ext cx="1143000" cy="187452"/>
          </a:xfrm>
          <a:prstGeom prst="rect">
            <a:avLst/>
          </a:prstGeom>
        </p:spPr>
      </p:pic>
      <p:sp>
        <p:nvSpPr>
          <p:cNvPr id="37" name="Footer"/>
          <p:cNvSpPr/>
          <p:nvPr/>
        </p:nvSpPr>
        <p:spPr>
          <a:xfrm>
            <a:off x="2331720" y="6345936"/>
            <a:ext cx="3840480" cy="228600"/>
          </a:xfrm>
          <a:prstGeom prst="rect">
            <a:avLst/>
          </a:prstGeom>
          <a:noFill/>
          <a:ln/>
        </p:spPr>
        <p:txBody>
          <a:bodyPr wrap="square" lIns="0" tIns="0" rIns="0" bIns="0" rtlCol="0" anchor="ctr">
            <a:normAutofit/>
          </a:bodyPr>
          <a:lstStyle/>
          <a:p>
            <a:pPr indent="0" marL="0" algn="l">
              <a:buNone/>
            </a:pPr>
            <a:r>
              <a:rPr lang="en-US" sz="1200" dirty="0">
                <a:solidFill>
                  <a:srgbClr val="777777"/>
                </a:solidFill>
                <a:latin typeface="Arial" pitchFamily="34" charset="0"/>
                <a:ea typeface="Arial" pitchFamily="34" charset="-122"/>
                <a:cs typeface="Arial" pitchFamily="34" charset="-120"/>
              </a:rPr>
              <a:t>Group 4 · Task 2 Prediction</a:t>
            </a:r>
            <a:endParaRPr lang="en-US" sz="1200" dirty="0"/>
          </a:p>
        </p:txBody>
      </p:sp>
      <p:sp>
        <p:nvSpPr>
          <p:cNvPr id="38" name="Slide number"/>
          <p:cNvSpPr/>
          <p:nvPr/>
        </p:nvSpPr>
        <p:spPr>
          <a:xfrm>
            <a:off x="11201400" y="6345936"/>
            <a:ext cx="228600" cy="228600"/>
          </a:xfrm>
          <a:prstGeom prst="rect">
            <a:avLst/>
          </a:prstGeom>
          <a:noFill/>
          <a:ln/>
        </p:spPr>
        <p:txBody>
          <a:bodyPr wrap="square" lIns="0" tIns="0" rIns="0" bIns="0" rtlCol="0" anchor="ctr">
            <a:normAutofit/>
          </a:bodyPr>
          <a:lstStyle/>
          <a:p>
            <a:pPr indent="0" marL="0" algn="r">
              <a:buNone/>
            </a:pPr>
            <a:r>
              <a:rPr lang="en-US" sz="1200" dirty="0">
                <a:solidFill>
                  <a:srgbClr val="777777"/>
                </a:solidFill>
                <a:latin typeface="Arial" pitchFamily="34" charset="0"/>
                <a:ea typeface="Arial" pitchFamily="34" charset="-122"/>
                <a:cs typeface="Arial"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822960" y="502920"/>
            <a:ext cx="10012680" cy="502920"/>
          </a:xfrm>
          <a:prstGeom prst="rect">
            <a:avLst/>
          </a:prstGeom>
          <a:noFill/>
          <a:ln/>
        </p:spPr>
        <p:txBody>
          <a:bodyPr wrap="square" lIns="0" tIns="0" rIns="0" bIns="0" rtlCol="0" anchor="ctr">
            <a:normAutofit/>
          </a:bodyPr>
          <a:lstStyle/>
          <a:p>
            <a:pPr indent="0" marL="0" algn="l">
              <a:buNone/>
            </a:pPr>
            <a:r>
              <a:rPr lang="en-US" sz="2900" b="1" dirty="0">
                <a:solidFill>
                  <a:srgbClr val="111111"/>
                </a:solidFill>
                <a:latin typeface="Arial" pitchFamily="34" charset="0"/>
                <a:ea typeface="Arial" pitchFamily="34" charset="-122"/>
                <a:cs typeface="Arial" pitchFamily="34" charset="-120"/>
              </a:rPr>
              <a:t>Generalization: frequencies yes, new patterns no</a:t>
            </a:r>
            <a:endParaRPr lang="en-US" sz="2900" dirty="0"/>
          </a:p>
        </p:txBody>
      </p:sp>
      <p:sp>
        <p:nvSpPr>
          <p:cNvPr id="3" name="Subtitle"/>
          <p:cNvSpPr/>
          <p:nvPr/>
        </p:nvSpPr>
        <p:spPr>
          <a:xfrm>
            <a:off x="850392" y="1069848"/>
            <a:ext cx="10012680" cy="256032"/>
          </a:xfrm>
          <a:prstGeom prst="rect">
            <a:avLst/>
          </a:prstGeom>
          <a:noFill/>
          <a:ln/>
        </p:spPr>
        <p:txBody>
          <a:bodyPr wrap="square" lIns="0" tIns="0" rIns="0" bIns="0" rtlCol="0" anchor="ctr">
            <a:normAutofit/>
          </a:bodyPr>
          <a:lstStyle/>
          <a:p>
            <a:pPr indent="0" marL="0" algn="l">
              <a:buNone/>
            </a:pPr>
            <a:r>
              <a:rPr lang="en-US" sz="1200" dirty="0">
                <a:solidFill>
                  <a:srgbClr val="666666"/>
                </a:solidFill>
                <a:latin typeface="Arial" pitchFamily="34" charset="0"/>
                <a:ea typeface="Arial" pitchFamily="34" charset="-122"/>
                <a:cs typeface="Arial" pitchFamily="34" charset="-120"/>
              </a:rPr>
              <a:t>The answer depends on whether the stimulus identity was seen during training.</a:t>
            </a:r>
            <a:endParaRPr lang="en-US" sz="1200" dirty="0"/>
          </a:p>
        </p:txBody>
      </p:sp>
      <p:sp>
        <p:nvSpPr>
          <p:cNvPr id="4" name="Divider"/>
          <p:cNvSpPr/>
          <p:nvPr/>
        </p:nvSpPr>
        <p:spPr>
          <a:xfrm>
            <a:off x="822960" y="1417320"/>
            <a:ext cx="10607040" cy="0"/>
          </a:xfrm>
          <a:prstGeom prst="line">
            <a:avLst/>
          </a:prstGeom>
          <a:noFill/>
          <a:ln w="12700">
            <a:solidFill>
              <a:srgbClr val="E5E5E5"/>
            </a:solidFill>
          </a:ln>
        </p:spPr>
      </p:sp>
      <p:sp>
        <p:nvSpPr>
          <p:cNvPr id="5" name="Stance"/>
          <p:cNvSpPr/>
          <p:nvPr/>
        </p:nvSpPr>
        <p:spPr>
          <a:xfrm>
            <a:off x="868680" y="1760000"/>
            <a:ext cx="10378440" cy="520000"/>
          </a:xfrm>
          <a:prstGeom prst="rect">
            <a:avLst/>
          </a:prstGeom>
          <a:noFill/>
          <a:ln/>
        </p:spPr>
        <p:txBody>
          <a:bodyPr wrap="square" lIns="0" tIns="0" rIns="0" bIns="0" rtlCol="0" anchor="ctr">
            <a:normAutofit/>
          </a:bodyPr>
          <a:lstStyle/>
          <a:p>
            <a:pPr indent="0" marL="0" algn="l">
              <a:buNone/>
            </a:pPr>
            <a:r>
              <a:rPr lang="en-US" sz="1720" b="1" dirty="0">
                <a:solidFill>
                  <a:srgbClr val="111111"/>
                </a:solidFill>
                <a:latin typeface="Arial" pitchFamily="34" charset="0"/>
                <a:ea typeface="Arial" pitchFamily="34" charset="-122"/>
                <a:cs typeface="Arial" pitchFamily="34" charset="-120"/>
              </a:rPr>
              <a:t>Our stance: possible for new frequency values of known patterns; not reliable for completely unseen stimulation patterns.</a:t>
            </a:r>
            <a:endParaRPr lang="en-US" sz="1720" dirty="0"/>
          </a:p>
        </p:txBody>
      </p:sp>
      <p:sp>
        <p:nvSpPr>
          <p:cNvPr id="6" name="Generalization card"/>
          <p:cNvSpPr/>
          <p:nvPr/>
        </p:nvSpPr>
        <p:spPr>
          <a:xfrm>
            <a:off x="868680" y="2490000"/>
            <a:ext cx="3120000" cy="2600000"/>
          </a:xfrm>
          <a:prstGeom prst="rect">
            <a:avLst/>
          </a:prstGeom>
          <a:solidFill>
            <a:srgbClr val="EEF6F3"/>
          </a:solidFill>
          <a:ln w="12700">
            <a:solidFill>
              <a:srgbClr val="BFD8CE"/>
            </a:solidFill>
          </a:ln>
        </p:spPr>
      </p:sp>
      <p:sp>
        <p:nvSpPr>
          <p:cNvPr id="7" name="Card title"/>
          <p:cNvSpPr/>
          <p:nvPr/>
        </p:nvSpPr>
        <p:spPr>
          <a:xfrm>
            <a:off x="1078680" y="2730000"/>
            <a:ext cx="2700000" cy="250000"/>
          </a:xfrm>
          <a:prstGeom prst="rect">
            <a:avLst/>
          </a:prstGeom>
          <a:noFill/>
          <a:ln/>
        </p:spPr>
        <p:txBody>
          <a:bodyPr wrap="square" lIns="0" tIns="0" rIns="0" bIns="0" rtlCol="0" anchor="ctr">
            <a:normAutofit/>
          </a:bodyPr>
          <a:lstStyle/>
          <a:p>
            <a:pPr indent="0" marL="0" algn="l">
              <a:buNone/>
            </a:pPr>
            <a:r>
              <a:rPr lang="en-US" sz="1370" b="1" dirty="0">
                <a:solidFill>
                  <a:srgbClr val="111111"/>
                </a:solidFill>
                <a:latin typeface="Arial" pitchFamily="34" charset="0"/>
                <a:ea typeface="Arial" pitchFamily="34" charset="-122"/>
                <a:cs typeface="Arial" pitchFamily="34" charset="-120"/>
              </a:rPr>
              <a:t>New frequencies</a:t>
            </a:r>
            <a:endParaRPr lang="en-US" sz="1370" dirty="0"/>
          </a:p>
        </p:txBody>
      </p:sp>
      <p:sp>
        <p:nvSpPr>
          <p:cNvPr id="8" name="Card bullet"/>
          <p:cNvSpPr/>
          <p:nvPr/>
        </p:nvSpPr>
        <p:spPr>
          <a:xfrm>
            <a:off x="1078680" y="3110000"/>
            <a:ext cx="146304" cy="201168"/>
          </a:xfrm>
          <a:prstGeom prst="rect">
            <a:avLst/>
          </a:prstGeom>
          <a:noFill/>
          <a:ln/>
        </p:spPr>
        <p:txBody>
          <a:bodyPr wrap="square" lIns="0" tIns="0" rIns="0" bIns="0" rtlCol="0" anchor="ctr">
            <a:normAutofit/>
          </a:bodyPr>
          <a:lstStyle/>
          <a:p>
            <a:pPr indent="0" marL="0" algn="l">
              <a:buNone/>
            </a:pPr>
            <a:r>
              <a:rPr lang="en-US" sz="1320" dirty="0">
                <a:solidFill>
                  <a:srgbClr val="1F4E79"/>
                </a:solidFill>
                <a:latin typeface="Arial" pitchFamily="34" charset="0"/>
                <a:ea typeface="Arial" pitchFamily="34" charset="-122"/>
                <a:cs typeface="Arial" pitchFamily="34" charset="-120"/>
              </a:rPr>
              <a:t>•</a:t>
            </a:r>
            <a:endParaRPr lang="en-US" sz="1320" dirty="0"/>
          </a:p>
        </p:txBody>
      </p:sp>
      <p:sp>
        <p:nvSpPr>
          <p:cNvPr id="9" name="Card text"/>
          <p:cNvSpPr/>
          <p:nvPr/>
        </p:nvSpPr>
        <p:spPr>
          <a:xfrm>
            <a:off x="1278680" y="3119000"/>
            <a:ext cx="2500000" cy="300000"/>
          </a:xfrm>
          <a:prstGeom prst="rect">
            <a:avLst/>
          </a:prstGeom>
          <a:noFill/>
          <a:ln/>
        </p:spPr>
        <p:txBody>
          <a:bodyPr wrap="square" lIns="0" tIns="0" rIns="0" bIns="0" rtlCol="0" anchor="ctr">
            <a:normAutofit/>
          </a:bodyPr>
          <a:lstStyle/>
          <a:p>
            <a:pPr indent="0" marL="0" algn="l">
              <a:buNone/>
            </a:pPr>
            <a:r>
              <a:rPr lang="en-US" sz="1060" dirty="0">
                <a:solidFill>
                  <a:srgbClr val="333333"/>
                </a:solidFill>
                <a:latin typeface="Arial" pitchFamily="34" charset="0"/>
                <a:ea typeface="Arial" pitchFamily="34" charset="-122"/>
                <a:cs typeface="Arial" pitchFamily="34" charset="-120"/>
              </a:rPr>
              <a:t>yes, mainly interpolation</a:t>
            </a:r>
            <a:endParaRPr lang="en-US" sz="1060" dirty="0"/>
          </a:p>
        </p:txBody>
      </p:sp>
      <p:sp>
        <p:nvSpPr>
          <p:cNvPr id="10" name="Card bullet"/>
          <p:cNvSpPr/>
          <p:nvPr/>
        </p:nvSpPr>
        <p:spPr>
          <a:xfrm>
            <a:off x="1078680" y="3515000"/>
            <a:ext cx="146304" cy="201168"/>
          </a:xfrm>
          <a:prstGeom prst="rect">
            <a:avLst/>
          </a:prstGeom>
          <a:noFill/>
          <a:ln/>
        </p:spPr>
        <p:txBody>
          <a:bodyPr wrap="square" lIns="0" tIns="0" rIns="0" bIns="0" rtlCol="0" anchor="ctr">
            <a:normAutofit/>
          </a:bodyPr>
          <a:lstStyle/>
          <a:p>
            <a:pPr indent="0" marL="0" algn="l">
              <a:buNone/>
            </a:pPr>
            <a:r>
              <a:rPr lang="en-US" sz="1320" dirty="0">
                <a:solidFill>
                  <a:srgbClr val="1F4E79"/>
                </a:solidFill>
                <a:latin typeface="Arial" pitchFamily="34" charset="0"/>
                <a:ea typeface="Arial" pitchFamily="34" charset="-122"/>
                <a:cs typeface="Arial" pitchFamily="34" charset="-120"/>
              </a:rPr>
              <a:t>•</a:t>
            </a:r>
            <a:endParaRPr lang="en-US" sz="1320" dirty="0"/>
          </a:p>
        </p:txBody>
      </p:sp>
      <p:sp>
        <p:nvSpPr>
          <p:cNvPr id="11" name="Card text"/>
          <p:cNvSpPr/>
          <p:nvPr/>
        </p:nvSpPr>
        <p:spPr>
          <a:xfrm>
            <a:off x="1278680" y="3524000"/>
            <a:ext cx="2500000" cy="300000"/>
          </a:xfrm>
          <a:prstGeom prst="rect">
            <a:avLst/>
          </a:prstGeom>
          <a:noFill/>
          <a:ln/>
        </p:spPr>
        <p:txBody>
          <a:bodyPr wrap="square" lIns="0" tIns="0" rIns="0" bIns="0" rtlCol="0" anchor="ctr">
            <a:normAutofit/>
          </a:bodyPr>
          <a:lstStyle/>
          <a:p>
            <a:pPr indent="0" marL="0" algn="l">
              <a:buNone/>
            </a:pPr>
            <a:r>
              <a:rPr lang="en-US" sz="1060" dirty="0">
                <a:solidFill>
                  <a:srgbClr val="333333"/>
                </a:solidFill>
                <a:latin typeface="Arial" pitchFamily="34" charset="0"/>
                <a:ea typeface="Arial" pitchFamily="34" charset="-122"/>
                <a:cs typeface="Arial" pitchFamily="34" charset="-120"/>
              </a:rPr>
              <a:t>frequency is a continuous input</a:t>
            </a:r>
            <a:endParaRPr lang="en-US" sz="1060" dirty="0"/>
          </a:p>
        </p:txBody>
      </p:sp>
      <p:sp>
        <p:nvSpPr>
          <p:cNvPr id="12" name="Card bullet"/>
          <p:cNvSpPr/>
          <p:nvPr/>
        </p:nvSpPr>
        <p:spPr>
          <a:xfrm>
            <a:off x="1078680" y="3920000"/>
            <a:ext cx="146304" cy="201168"/>
          </a:xfrm>
          <a:prstGeom prst="rect">
            <a:avLst/>
          </a:prstGeom>
          <a:noFill/>
          <a:ln/>
        </p:spPr>
        <p:txBody>
          <a:bodyPr wrap="square" lIns="0" tIns="0" rIns="0" bIns="0" rtlCol="0" anchor="ctr">
            <a:normAutofit/>
          </a:bodyPr>
          <a:lstStyle/>
          <a:p>
            <a:pPr indent="0" marL="0" algn="l">
              <a:buNone/>
            </a:pPr>
            <a:r>
              <a:rPr lang="en-US" sz="1320" dirty="0">
                <a:solidFill>
                  <a:srgbClr val="1F4E79"/>
                </a:solidFill>
                <a:latin typeface="Arial" pitchFamily="34" charset="0"/>
                <a:ea typeface="Arial" pitchFamily="34" charset="-122"/>
                <a:cs typeface="Arial" pitchFamily="34" charset="-120"/>
              </a:rPr>
              <a:t>•</a:t>
            </a:r>
            <a:endParaRPr lang="en-US" sz="1320" dirty="0"/>
          </a:p>
        </p:txBody>
      </p:sp>
      <p:sp>
        <p:nvSpPr>
          <p:cNvPr id="13" name="Card text"/>
          <p:cNvSpPr/>
          <p:nvPr/>
        </p:nvSpPr>
        <p:spPr>
          <a:xfrm>
            <a:off x="1278680" y="3929000"/>
            <a:ext cx="2500000" cy="300000"/>
          </a:xfrm>
          <a:prstGeom prst="rect">
            <a:avLst/>
          </a:prstGeom>
          <a:noFill/>
          <a:ln/>
        </p:spPr>
        <p:txBody>
          <a:bodyPr wrap="square" lIns="0" tIns="0" rIns="0" bIns="0" rtlCol="0" anchor="ctr">
            <a:normAutofit/>
          </a:bodyPr>
          <a:lstStyle/>
          <a:p>
            <a:pPr indent="0" marL="0" algn="l">
              <a:buNone/>
            </a:pPr>
            <a:r>
              <a:rPr lang="en-US" sz="1060" dirty="0">
                <a:solidFill>
                  <a:srgbClr val="333333"/>
                </a:solidFill>
                <a:latin typeface="Arial" pitchFamily="34" charset="0"/>
                <a:ea typeface="Arial" pitchFamily="34" charset="-122"/>
                <a:cs typeface="Arial" pitchFamily="34" charset="-120"/>
              </a:rPr>
              <a:t>RBF/FiLM features can handle nearby values</a:t>
            </a:r>
            <a:endParaRPr lang="en-US" sz="1060" dirty="0"/>
          </a:p>
        </p:txBody>
      </p:sp>
      <p:sp>
        <p:nvSpPr>
          <p:cNvPr id="14" name="Card bullet"/>
          <p:cNvSpPr/>
          <p:nvPr/>
        </p:nvSpPr>
        <p:spPr>
          <a:xfrm>
            <a:off x="1078680" y="4325000"/>
            <a:ext cx="146304" cy="201168"/>
          </a:xfrm>
          <a:prstGeom prst="rect">
            <a:avLst/>
          </a:prstGeom>
          <a:noFill/>
          <a:ln/>
        </p:spPr>
        <p:txBody>
          <a:bodyPr wrap="square" lIns="0" tIns="0" rIns="0" bIns="0" rtlCol="0" anchor="ctr">
            <a:normAutofit/>
          </a:bodyPr>
          <a:lstStyle/>
          <a:p>
            <a:pPr indent="0" marL="0" algn="l">
              <a:buNone/>
            </a:pPr>
            <a:r>
              <a:rPr lang="en-US" sz="1320" dirty="0">
                <a:solidFill>
                  <a:srgbClr val="1F4E79"/>
                </a:solidFill>
                <a:latin typeface="Arial" pitchFamily="34" charset="0"/>
                <a:ea typeface="Arial" pitchFamily="34" charset="-122"/>
                <a:cs typeface="Arial" pitchFamily="34" charset="-120"/>
              </a:rPr>
              <a:t>•</a:t>
            </a:r>
            <a:endParaRPr lang="en-US" sz="1320" dirty="0"/>
          </a:p>
        </p:txBody>
      </p:sp>
      <p:sp>
        <p:nvSpPr>
          <p:cNvPr id="15" name="Card text"/>
          <p:cNvSpPr/>
          <p:nvPr/>
        </p:nvSpPr>
        <p:spPr>
          <a:xfrm>
            <a:off x="1278680" y="4334000"/>
            <a:ext cx="2500000" cy="300000"/>
          </a:xfrm>
          <a:prstGeom prst="rect">
            <a:avLst/>
          </a:prstGeom>
          <a:noFill/>
          <a:ln/>
        </p:spPr>
        <p:txBody>
          <a:bodyPr wrap="square" lIns="0" tIns="0" rIns="0" bIns="0" rtlCol="0" anchor="ctr">
            <a:normAutofit/>
          </a:bodyPr>
          <a:lstStyle/>
          <a:p>
            <a:pPr indent="0" marL="0" algn="l">
              <a:buNone/>
            </a:pPr>
            <a:r>
              <a:rPr lang="en-US" sz="1060" dirty="0">
                <a:solidFill>
                  <a:srgbClr val="333333"/>
                </a:solidFill>
                <a:latin typeface="Arial" pitchFamily="34" charset="0"/>
                <a:ea typeface="Arial" pitchFamily="34" charset="-122"/>
                <a:cs typeface="Arial" pitchFamily="34" charset="-120"/>
              </a:rPr>
              <a:t>extrapolation outside the trained range is risky</a:t>
            </a:r>
            <a:endParaRPr lang="en-US" sz="1060" dirty="0"/>
          </a:p>
        </p:txBody>
      </p:sp>
      <p:sp>
        <p:nvSpPr>
          <p:cNvPr id="18" name="Generalization card"/>
          <p:cNvSpPr/>
          <p:nvPr/>
        </p:nvSpPr>
        <p:spPr>
          <a:xfrm>
            <a:off x="4330000" y="2490000"/>
            <a:ext cx="3120000" cy="2600000"/>
          </a:xfrm>
          <a:prstGeom prst="rect">
            <a:avLst/>
          </a:prstGeom>
          <a:solidFill>
            <a:srgbClr val="F8F5EF"/>
          </a:solidFill>
          <a:ln w="12700">
            <a:solidFill>
              <a:srgbClr val="E5C88C"/>
            </a:solidFill>
          </a:ln>
        </p:spPr>
      </p:sp>
      <p:sp>
        <p:nvSpPr>
          <p:cNvPr id="19" name="Card title"/>
          <p:cNvSpPr/>
          <p:nvPr/>
        </p:nvSpPr>
        <p:spPr>
          <a:xfrm>
            <a:off x="4540000" y="2730000"/>
            <a:ext cx="2700000" cy="250000"/>
          </a:xfrm>
          <a:prstGeom prst="rect">
            <a:avLst/>
          </a:prstGeom>
          <a:noFill/>
          <a:ln/>
        </p:spPr>
        <p:txBody>
          <a:bodyPr wrap="square" lIns="0" tIns="0" rIns="0" bIns="0" rtlCol="0" anchor="ctr">
            <a:normAutofit/>
          </a:bodyPr>
          <a:lstStyle/>
          <a:p>
            <a:pPr indent="0" marL="0" algn="l">
              <a:buNone/>
            </a:pPr>
            <a:r>
              <a:rPr lang="en-US" sz="1370" b="1" dirty="0">
                <a:solidFill>
                  <a:srgbClr val="111111"/>
                </a:solidFill>
                <a:latin typeface="Arial" pitchFamily="34" charset="0"/>
                <a:ea typeface="Arial" pitchFamily="34" charset="-122"/>
                <a:cs typeface="Arial" pitchFamily="34" charset="-120"/>
              </a:rPr>
              <a:t>New combinations</a:t>
            </a:r>
            <a:endParaRPr lang="en-US" sz="1370" dirty="0"/>
          </a:p>
        </p:txBody>
      </p:sp>
      <p:sp>
        <p:nvSpPr>
          <p:cNvPr id="20" name="Card bullet"/>
          <p:cNvSpPr/>
          <p:nvPr/>
        </p:nvSpPr>
        <p:spPr>
          <a:xfrm>
            <a:off x="4540000" y="3110000"/>
            <a:ext cx="146304" cy="201168"/>
          </a:xfrm>
          <a:prstGeom prst="rect">
            <a:avLst/>
          </a:prstGeom>
          <a:noFill/>
          <a:ln/>
        </p:spPr>
        <p:txBody>
          <a:bodyPr wrap="square" lIns="0" tIns="0" rIns="0" bIns="0" rtlCol="0" anchor="ctr">
            <a:normAutofit/>
          </a:bodyPr>
          <a:lstStyle/>
          <a:p>
            <a:pPr indent="0" marL="0" algn="l">
              <a:buNone/>
            </a:pPr>
            <a:r>
              <a:rPr lang="en-US" sz="1320" dirty="0">
                <a:solidFill>
                  <a:srgbClr val="1F4E79"/>
                </a:solidFill>
                <a:latin typeface="Arial" pitchFamily="34" charset="0"/>
                <a:ea typeface="Arial" pitchFamily="34" charset="-122"/>
                <a:cs typeface="Arial" pitchFamily="34" charset="-120"/>
              </a:rPr>
              <a:t>•</a:t>
            </a:r>
            <a:endParaRPr lang="en-US" sz="1320" dirty="0"/>
          </a:p>
        </p:txBody>
      </p:sp>
      <p:sp>
        <p:nvSpPr>
          <p:cNvPr id="21" name="Card text"/>
          <p:cNvSpPr/>
          <p:nvPr/>
        </p:nvSpPr>
        <p:spPr>
          <a:xfrm>
            <a:off x="4740000" y="3119000"/>
            <a:ext cx="2500000" cy="300000"/>
          </a:xfrm>
          <a:prstGeom prst="rect">
            <a:avLst/>
          </a:prstGeom>
          <a:noFill/>
          <a:ln/>
        </p:spPr>
        <p:txBody>
          <a:bodyPr wrap="square" lIns="0" tIns="0" rIns="0" bIns="0" rtlCol="0" anchor="ctr">
            <a:normAutofit/>
          </a:bodyPr>
          <a:lstStyle/>
          <a:p>
            <a:pPr indent="0" marL="0" algn="l">
              <a:buNone/>
            </a:pPr>
            <a:r>
              <a:rPr lang="en-US" sz="1060" dirty="0">
                <a:solidFill>
                  <a:srgbClr val="333333"/>
                </a:solidFill>
                <a:latin typeface="Arial" pitchFamily="34" charset="0"/>
                <a:ea typeface="Arial" pitchFamily="34" charset="-122"/>
                <a:cs typeface="Arial" pitchFamily="34" charset="-120"/>
              </a:rPr>
              <a:t>yes, if pattern is known</a:t>
            </a:r>
            <a:endParaRPr lang="en-US" sz="1060" dirty="0"/>
          </a:p>
        </p:txBody>
      </p:sp>
      <p:sp>
        <p:nvSpPr>
          <p:cNvPr id="22" name="Card bullet"/>
          <p:cNvSpPr/>
          <p:nvPr/>
        </p:nvSpPr>
        <p:spPr>
          <a:xfrm>
            <a:off x="4540000" y="3515000"/>
            <a:ext cx="146304" cy="201168"/>
          </a:xfrm>
          <a:prstGeom prst="rect">
            <a:avLst/>
          </a:prstGeom>
          <a:noFill/>
          <a:ln/>
        </p:spPr>
        <p:txBody>
          <a:bodyPr wrap="square" lIns="0" tIns="0" rIns="0" bIns="0" rtlCol="0" anchor="ctr">
            <a:normAutofit/>
          </a:bodyPr>
          <a:lstStyle/>
          <a:p>
            <a:pPr indent="0" marL="0" algn="l">
              <a:buNone/>
            </a:pPr>
            <a:r>
              <a:rPr lang="en-US" sz="1320" dirty="0">
                <a:solidFill>
                  <a:srgbClr val="1F4E79"/>
                </a:solidFill>
                <a:latin typeface="Arial" pitchFamily="34" charset="0"/>
                <a:ea typeface="Arial" pitchFamily="34" charset="-122"/>
                <a:cs typeface="Arial" pitchFamily="34" charset="-120"/>
              </a:rPr>
              <a:t>•</a:t>
            </a:r>
            <a:endParaRPr lang="en-US" sz="1320" dirty="0"/>
          </a:p>
        </p:txBody>
      </p:sp>
      <p:sp>
        <p:nvSpPr>
          <p:cNvPr id="23" name="Card text"/>
          <p:cNvSpPr/>
          <p:nvPr/>
        </p:nvSpPr>
        <p:spPr>
          <a:xfrm>
            <a:off x="4740000" y="3524000"/>
            <a:ext cx="2500000" cy="300000"/>
          </a:xfrm>
          <a:prstGeom prst="rect">
            <a:avLst/>
          </a:prstGeom>
          <a:noFill/>
          <a:ln/>
        </p:spPr>
        <p:txBody>
          <a:bodyPr wrap="square" lIns="0" tIns="0" rIns="0" bIns="0" rtlCol="0" anchor="ctr">
            <a:normAutofit/>
          </a:bodyPr>
          <a:lstStyle/>
          <a:p>
            <a:pPr indent="0" marL="0" algn="l">
              <a:buNone/>
            </a:pPr>
            <a:r>
              <a:rPr lang="en-US" sz="1060" dirty="0">
                <a:solidFill>
                  <a:srgbClr val="333333"/>
                </a:solidFill>
                <a:latin typeface="Arial" pitchFamily="34" charset="0"/>
                <a:ea typeface="Arial" pitchFamily="34" charset="-122"/>
                <a:cs typeface="Arial" pitchFamily="34" charset="-120"/>
              </a:rPr>
              <a:t>all 16 pattern IDs were represented in training</a:t>
            </a:r>
            <a:endParaRPr lang="en-US" sz="1060" dirty="0"/>
          </a:p>
        </p:txBody>
      </p:sp>
      <p:sp>
        <p:nvSpPr>
          <p:cNvPr id="24" name="Card bullet"/>
          <p:cNvSpPr/>
          <p:nvPr/>
        </p:nvSpPr>
        <p:spPr>
          <a:xfrm>
            <a:off x="4540000" y="3920000"/>
            <a:ext cx="146304" cy="201168"/>
          </a:xfrm>
          <a:prstGeom prst="rect">
            <a:avLst/>
          </a:prstGeom>
          <a:noFill/>
          <a:ln/>
        </p:spPr>
        <p:txBody>
          <a:bodyPr wrap="square" lIns="0" tIns="0" rIns="0" bIns="0" rtlCol="0" anchor="ctr">
            <a:normAutofit/>
          </a:bodyPr>
          <a:lstStyle/>
          <a:p>
            <a:pPr indent="0" marL="0" algn="l">
              <a:buNone/>
            </a:pPr>
            <a:r>
              <a:rPr lang="en-US" sz="1320" dirty="0">
                <a:solidFill>
                  <a:srgbClr val="1F4E79"/>
                </a:solidFill>
                <a:latin typeface="Arial" pitchFamily="34" charset="0"/>
                <a:ea typeface="Arial" pitchFamily="34" charset="-122"/>
                <a:cs typeface="Arial" pitchFamily="34" charset="-120"/>
              </a:rPr>
              <a:t>•</a:t>
            </a:r>
            <a:endParaRPr lang="en-US" sz="1320" dirty="0"/>
          </a:p>
        </p:txBody>
      </p:sp>
      <p:sp>
        <p:nvSpPr>
          <p:cNvPr id="25" name="Card text"/>
          <p:cNvSpPr/>
          <p:nvPr/>
        </p:nvSpPr>
        <p:spPr>
          <a:xfrm>
            <a:off x="4740000" y="3929000"/>
            <a:ext cx="2500000" cy="300000"/>
          </a:xfrm>
          <a:prstGeom prst="rect">
            <a:avLst/>
          </a:prstGeom>
          <a:noFill/>
          <a:ln/>
        </p:spPr>
        <p:txBody>
          <a:bodyPr wrap="square" lIns="0" tIns="0" rIns="0" bIns="0" rtlCol="0" anchor="ctr">
            <a:normAutofit/>
          </a:bodyPr>
          <a:lstStyle/>
          <a:p>
            <a:pPr indent="0" marL="0" algn="l">
              <a:buNone/>
            </a:pPr>
            <a:r>
              <a:rPr lang="en-US" sz="1060" dirty="0">
                <a:solidFill>
                  <a:srgbClr val="333333"/>
                </a:solidFill>
                <a:latin typeface="Arial" pitchFamily="34" charset="0"/>
                <a:ea typeface="Arial" pitchFamily="34" charset="-122"/>
                <a:cs typeface="Arial" pitchFamily="34" charset="-120"/>
              </a:rPr>
              <a:t>pattern/frequency baselines and blend tables can fall back</a:t>
            </a:r>
            <a:endParaRPr lang="en-US" sz="1060" dirty="0"/>
          </a:p>
        </p:txBody>
      </p:sp>
      <p:sp>
        <p:nvSpPr>
          <p:cNvPr id="26" name="Card bullet"/>
          <p:cNvSpPr/>
          <p:nvPr/>
        </p:nvSpPr>
        <p:spPr>
          <a:xfrm>
            <a:off x="4540000" y="4325000"/>
            <a:ext cx="146304" cy="201168"/>
          </a:xfrm>
          <a:prstGeom prst="rect">
            <a:avLst/>
          </a:prstGeom>
          <a:noFill/>
          <a:ln/>
        </p:spPr>
        <p:txBody>
          <a:bodyPr wrap="square" lIns="0" tIns="0" rIns="0" bIns="0" rtlCol="0" anchor="ctr">
            <a:normAutofit/>
          </a:bodyPr>
          <a:lstStyle/>
          <a:p>
            <a:pPr indent="0" marL="0" algn="l">
              <a:buNone/>
            </a:pPr>
            <a:r>
              <a:rPr lang="en-US" sz="1320" dirty="0">
                <a:solidFill>
                  <a:srgbClr val="1F4E79"/>
                </a:solidFill>
                <a:latin typeface="Arial" pitchFamily="34" charset="0"/>
                <a:ea typeface="Arial" pitchFamily="34" charset="-122"/>
                <a:cs typeface="Arial" pitchFamily="34" charset="-120"/>
              </a:rPr>
              <a:t>•</a:t>
            </a:r>
            <a:endParaRPr lang="en-US" sz="1320" dirty="0"/>
          </a:p>
        </p:txBody>
      </p:sp>
      <p:sp>
        <p:nvSpPr>
          <p:cNvPr id="27" name="Card text"/>
          <p:cNvSpPr/>
          <p:nvPr/>
        </p:nvSpPr>
        <p:spPr>
          <a:xfrm>
            <a:off x="4740000" y="4334000"/>
            <a:ext cx="2500000" cy="300000"/>
          </a:xfrm>
          <a:prstGeom prst="rect">
            <a:avLst/>
          </a:prstGeom>
          <a:noFill/>
          <a:ln/>
        </p:spPr>
        <p:txBody>
          <a:bodyPr wrap="square" lIns="0" tIns="0" rIns="0" bIns="0" rtlCol="0" anchor="ctr">
            <a:normAutofit/>
          </a:bodyPr>
          <a:lstStyle/>
          <a:p>
            <a:pPr indent="0" marL="0" algn="l">
              <a:buNone/>
            </a:pPr>
            <a:r>
              <a:rPr lang="en-US" sz="1060" dirty="0">
                <a:solidFill>
                  <a:srgbClr val="333333"/>
                </a:solidFill>
                <a:latin typeface="Arial" pitchFamily="34" charset="0"/>
                <a:ea typeface="Arial" pitchFamily="34" charset="-122"/>
                <a:cs typeface="Arial" pitchFamily="34" charset="-120"/>
              </a:rPr>
              <a:t>best claim: known pattern, new frequency cell</a:t>
            </a:r>
            <a:endParaRPr lang="en-US" sz="1060" dirty="0"/>
          </a:p>
        </p:txBody>
      </p:sp>
      <p:sp>
        <p:nvSpPr>
          <p:cNvPr id="30" name="Generalization card"/>
          <p:cNvSpPr/>
          <p:nvPr/>
        </p:nvSpPr>
        <p:spPr>
          <a:xfrm>
            <a:off x="7790000" y="2490000"/>
            <a:ext cx="3120000" cy="2600000"/>
          </a:xfrm>
          <a:prstGeom prst="rect">
            <a:avLst/>
          </a:prstGeom>
          <a:solidFill>
            <a:srgbClr val="EEF2FA"/>
          </a:solidFill>
          <a:ln w="12700">
            <a:solidFill>
              <a:srgbClr val="B8C5E6"/>
            </a:solidFill>
          </a:ln>
        </p:spPr>
      </p:sp>
      <p:sp>
        <p:nvSpPr>
          <p:cNvPr id="31" name="Card title"/>
          <p:cNvSpPr/>
          <p:nvPr/>
        </p:nvSpPr>
        <p:spPr>
          <a:xfrm>
            <a:off x="8000000" y="2730000"/>
            <a:ext cx="2700000" cy="250000"/>
          </a:xfrm>
          <a:prstGeom prst="rect">
            <a:avLst/>
          </a:prstGeom>
          <a:noFill/>
          <a:ln/>
        </p:spPr>
        <p:txBody>
          <a:bodyPr wrap="square" lIns="0" tIns="0" rIns="0" bIns="0" rtlCol="0" anchor="ctr">
            <a:normAutofit/>
          </a:bodyPr>
          <a:lstStyle/>
          <a:p>
            <a:pPr indent="0" marL="0" algn="l">
              <a:buNone/>
            </a:pPr>
            <a:r>
              <a:rPr lang="en-US" sz="1370" b="1" dirty="0">
                <a:solidFill>
                  <a:srgbClr val="111111"/>
                </a:solidFill>
                <a:latin typeface="Arial" pitchFamily="34" charset="0"/>
                <a:ea typeface="Arial" pitchFamily="34" charset="-122"/>
                <a:cs typeface="Arial" pitchFamily="34" charset="-120"/>
              </a:rPr>
              <a:t>New patterns</a:t>
            </a:r>
            <a:endParaRPr lang="en-US" sz="1370" dirty="0"/>
          </a:p>
        </p:txBody>
      </p:sp>
      <p:sp>
        <p:nvSpPr>
          <p:cNvPr id="32" name="Card bullet"/>
          <p:cNvSpPr/>
          <p:nvPr/>
        </p:nvSpPr>
        <p:spPr>
          <a:xfrm>
            <a:off x="8000000" y="3110000"/>
            <a:ext cx="146304" cy="201168"/>
          </a:xfrm>
          <a:prstGeom prst="rect">
            <a:avLst/>
          </a:prstGeom>
          <a:noFill/>
          <a:ln/>
        </p:spPr>
        <p:txBody>
          <a:bodyPr wrap="square" lIns="0" tIns="0" rIns="0" bIns="0" rtlCol="0" anchor="ctr">
            <a:normAutofit/>
          </a:bodyPr>
          <a:lstStyle/>
          <a:p>
            <a:pPr indent="0" marL="0" algn="l">
              <a:buNone/>
            </a:pPr>
            <a:r>
              <a:rPr lang="en-US" sz="1320" dirty="0">
                <a:solidFill>
                  <a:srgbClr val="1F4E79"/>
                </a:solidFill>
                <a:latin typeface="Arial" pitchFamily="34" charset="0"/>
                <a:ea typeface="Arial" pitchFamily="34" charset="-122"/>
                <a:cs typeface="Arial" pitchFamily="34" charset="-120"/>
              </a:rPr>
              <a:t>•</a:t>
            </a:r>
            <a:endParaRPr lang="en-US" sz="1320" dirty="0"/>
          </a:p>
        </p:txBody>
      </p:sp>
      <p:sp>
        <p:nvSpPr>
          <p:cNvPr id="33" name="Card text"/>
          <p:cNvSpPr/>
          <p:nvPr/>
        </p:nvSpPr>
        <p:spPr>
          <a:xfrm>
            <a:off x="8200000" y="3119000"/>
            <a:ext cx="2500000" cy="300000"/>
          </a:xfrm>
          <a:prstGeom prst="rect">
            <a:avLst/>
          </a:prstGeom>
          <a:noFill/>
          <a:ln/>
        </p:spPr>
        <p:txBody>
          <a:bodyPr wrap="square" lIns="0" tIns="0" rIns="0" bIns="0" rtlCol="0" anchor="ctr">
            <a:normAutofit/>
          </a:bodyPr>
          <a:lstStyle/>
          <a:p>
            <a:pPr indent="0" marL="0" algn="l">
              <a:buNone/>
            </a:pPr>
            <a:r>
              <a:rPr lang="en-US" sz="1060" dirty="0">
                <a:solidFill>
                  <a:srgbClr val="333333"/>
                </a:solidFill>
                <a:latin typeface="Arial" pitchFamily="34" charset="0"/>
                <a:ea typeface="Arial" pitchFamily="34" charset="-122"/>
                <a:cs typeface="Arial" pitchFamily="34" charset="-120"/>
              </a:rPr>
              <a:t>no strong claim</a:t>
            </a:r>
            <a:endParaRPr lang="en-US" sz="1060" dirty="0"/>
          </a:p>
        </p:txBody>
      </p:sp>
      <p:sp>
        <p:nvSpPr>
          <p:cNvPr id="34" name="Card bullet"/>
          <p:cNvSpPr/>
          <p:nvPr/>
        </p:nvSpPr>
        <p:spPr>
          <a:xfrm>
            <a:off x="8000000" y="3515000"/>
            <a:ext cx="146304" cy="201168"/>
          </a:xfrm>
          <a:prstGeom prst="rect">
            <a:avLst/>
          </a:prstGeom>
          <a:noFill/>
          <a:ln/>
        </p:spPr>
        <p:txBody>
          <a:bodyPr wrap="square" lIns="0" tIns="0" rIns="0" bIns="0" rtlCol="0" anchor="ctr">
            <a:normAutofit/>
          </a:bodyPr>
          <a:lstStyle/>
          <a:p>
            <a:pPr indent="0" marL="0" algn="l">
              <a:buNone/>
            </a:pPr>
            <a:r>
              <a:rPr lang="en-US" sz="1320" dirty="0">
                <a:solidFill>
                  <a:srgbClr val="1F4E79"/>
                </a:solidFill>
                <a:latin typeface="Arial" pitchFamily="34" charset="0"/>
                <a:ea typeface="Arial" pitchFamily="34" charset="-122"/>
                <a:cs typeface="Arial" pitchFamily="34" charset="-120"/>
              </a:rPr>
              <a:t>•</a:t>
            </a:r>
            <a:endParaRPr lang="en-US" sz="1320" dirty="0"/>
          </a:p>
        </p:txBody>
      </p:sp>
      <p:sp>
        <p:nvSpPr>
          <p:cNvPr id="35" name="Card text"/>
          <p:cNvSpPr/>
          <p:nvPr/>
        </p:nvSpPr>
        <p:spPr>
          <a:xfrm>
            <a:off x="8200000" y="3524000"/>
            <a:ext cx="2500000" cy="300000"/>
          </a:xfrm>
          <a:prstGeom prst="rect">
            <a:avLst/>
          </a:prstGeom>
          <a:noFill/>
          <a:ln/>
        </p:spPr>
        <p:txBody>
          <a:bodyPr wrap="square" lIns="0" tIns="0" rIns="0" bIns="0" rtlCol="0" anchor="ctr">
            <a:normAutofit/>
          </a:bodyPr>
          <a:lstStyle/>
          <a:p>
            <a:pPr indent="0" marL="0" algn="l">
              <a:buNone/>
            </a:pPr>
            <a:r>
              <a:rPr lang="en-US" sz="1060" dirty="0">
                <a:solidFill>
                  <a:srgbClr val="333333"/>
                </a:solidFill>
                <a:latin typeface="Arial" pitchFamily="34" charset="0"/>
                <a:ea typeface="Arial" pitchFamily="34" charset="-122"/>
                <a:cs typeface="Arial" pitchFamily="34" charset="-120"/>
              </a:rPr>
              <a:t>pattern IDs are nominal learned embeddings</a:t>
            </a:r>
            <a:endParaRPr lang="en-US" sz="1060" dirty="0"/>
          </a:p>
        </p:txBody>
      </p:sp>
      <p:sp>
        <p:nvSpPr>
          <p:cNvPr id="36" name="Card bullet"/>
          <p:cNvSpPr/>
          <p:nvPr/>
        </p:nvSpPr>
        <p:spPr>
          <a:xfrm>
            <a:off x="8000000" y="3920000"/>
            <a:ext cx="146304" cy="201168"/>
          </a:xfrm>
          <a:prstGeom prst="rect">
            <a:avLst/>
          </a:prstGeom>
          <a:noFill/>
          <a:ln/>
        </p:spPr>
        <p:txBody>
          <a:bodyPr wrap="square" lIns="0" tIns="0" rIns="0" bIns="0" rtlCol="0" anchor="ctr">
            <a:normAutofit/>
          </a:bodyPr>
          <a:lstStyle/>
          <a:p>
            <a:pPr indent="0" marL="0" algn="l">
              <a:buNone/>
            </a:pPr>
            <a:r>
              <a:rPr lang="en-US" sz="1320" dirty="0">
                <a:solidFill>
                  <a:srgbClr val="1F4E79"/>
                </a:solidFill>
                <a:latin typeface="Arial" pitchFamily="34" charset="0"/>
                <a:ea typeface="Arial" pitchFamily="34" charset="-122"/>
                <a:cs typeface="Arial" pitchFamily="34" charset="-120"/>
              </a:rPr>
              <a:t>•</a:t>
            </a:r>
            <a:endParaRPr lang="en-US" sz="1320" dirty="0"/>
          </a:p>
        </p:txBody>
      </p:sp>
      <p:sp>
        <p:nvSpPr>
          <p:cNvPr id="37" name="Card text"/>
          <p:cNvSpPr/>
          <p:nvPr/>
        </p:nvSpPr>
        <p:spPr>
          <a:xfrm>
            <a:off x="8200000" y="3929000"/>
            <a:ext cx="2500000" cy="300000"/>
          </a:xfrm>
          <a:prstGeom prst="rect">
            <a:avLst/>
          </a:prstGeom>
          <a:noFill/>
          <a:ln/>
        </p:spPr>
        <p:txBody>
          <a:bodyPr wrap="square" lIns="0" tIns="0" rIns="0" bIns="0" rtlCol="0" anchor="ctr">
            <a:normAutofit/>
          </a:bodyPr>
          <a:lstStyle/>
          <a:p>
            <a:pPr indent="0" marL="0" algn="l">
              <a:buNone/>
            </a:pPr>
            <a:r>
              <a:rPr lang="en-US" sz="1060" dirty="0">
                <a:solidFill>
                  <a:srgbClr val="333333"/>
                </a:solidFill>
                <a:latin typeface="Arial" pitchFamily="34" charset="0"/>
                <a:ea typeface="Arial" pitchFamily="34" charset="-122"/>
                <a:cs typeface="Arial" pitchFamily="34" charset="-120"/>
              </a:rPr>
              <a:t>no template or residual gate exists for an unseen ID</a:t>
            </a:r>
            <a:endParaRPr lang="en-US" sz="1060" dirty="0"/>
          </a:p>
        </p:txBody>
      </p:sp>
      <p:sp>
        <p:nvSpPr>
          <p:cNvPr id="38" name="Card bullet"/>
          <p:cNvSpPr/>
          <p:nvPr/>
        </p:nvSpPr>
        <p:spPr>
          <a:xfrm>
            <a:off x="8000000" y="4325000"/>
            <a:ext cx="146304" cy="201168"/>
          </a:xfrm>
          <a:prstGeom prst="rect">
            <a:avLst/>
          </a:prstGeom>
          <a:noFill/>
          <a:ln/>
        </p:spPr>
        <p:txBody>
          <a:bodyPr wrap="square" lIns="0" tIns="0" rIns="0" bIns="0" rtlCol="0" anchor="ctr">
            <a:normAutofit/>
          </a:bodyPr>
          <a:lstStyle/>
          <a:p>
            <a:pPr indent="0" marL="0" algn="l">
              <a:buNone/>
            </a:pPr>
            <a:r>
              <a:rPr lang="en-US" sz="1320" dirty="0">
                <a:solidFill>
                  <a:srgbClr val="1F4E79"/>
                </a:solidFill>
                <a:latin typeface="Arial" pitchFamily="34" charset="0"/>
                <a:ea typeface="Arial" pitchFamily="34" charset="-122"/>
                <a:cs typeface="Arial" pitchFamily="34" charset="-120"/>
              </a:rPr>
              <a:t>•</a:t>
            </a:r>
            <a:endParaRPr lang="en-US" sz="1320" dirty="0"/>
          </a:p>
        </p:txBody>
      </p:sp>
      <p:sp>
        <p:nvSpPr>
          <p:cNvPr id="39" name="Card text"/>
          <p:cNvSpPr/>
          <p:nvPr/>
        </p:nvSpPr>
        <p:spPr>
          <a:xfrm>
            <a:off x="8200000" y="4334000"/>
            <a:ext cx="2500000" cy="300000"/>
          </a:xfrm>
          <a:prstGeom prst="rect">
            <a:avLst/>
          </a:prstGeom>
          <a:noFill/>
          <a:ln/>
        </p:spPr>
        <p:txBody>
          <a:bodyPr wrap="square" lIns="0" tIns="0" rIns="0" bIns="0" rtlCol="0" anchor="ctr">
            <a:normAutofit/>
          </a:bodyPr>
          <a:lstStyle/>
          <a:p>
            <a:pPr indent="0" marL="0" algn="l">
              <a:buNone/>
            </a:pPr>
            <a:r>
              <a:rPr lang="en-US" sz="1060" dirty="0">
                <a:solidFill>
                  <a:srgbClr val="333333"/>
                </a:solidFill>
                <a:latin typeface="Arial" pitchFamily="34" charset="0"/>
                <a:ea typeface="Arial" pitchFamily="34" charset="-122"/>
                <a:cs typeface="Arial" pitchFamily="34" charset="-120"/>
              </a:rPr>
              <a:t>needs retraining or physical stimulus descriptors</a:t>
            </a:r>
            <a:endParaRPr lang="en-US" sz="1060" dirty="0"/>
          </a:p>
        </p:txBody>
      </p:sp>
      <p:sp>
        <p:nvSpPr>
          <p:cNvPr id="45" name="Conclusion divider"/>
          <p:cNvSpPr/>
          <p:nvPr/>
        </p:nvSpPr>
        <p:spPr>
          <a:xfrm>
            <a:off x="868680" y="5350000"/>
            <a:ext cx="10378440" cy="0"/>
          </a:xfrm>
          <a:prstGeom prst="line">
            <a:avLst/>
          </a:prstGeom>
          <a:noFill/>
          <a:ln w="12700">
            <a:solidFill>
              <a:srgbClr val="E5E5E5"/>
            </a:solidFill>
          </a:ln>
        </p:spPr>
      </p:sp>
      <p:sp>
        <p:nvSpPr>
          <p:cNvPr id="46" name="Conclusion label"/>
          <p:cNvSpPr/>
          <p:nvPr/>
        </p:nvSpPr>
        <p:spPr>
          <a:xfrm>
            <a:off x="868680" y="5570000"/>
            <a:ext cx="1463040" cy="182880"/>
          </a:xfrm>
          <a:prstGeom prst="rect">
            <a:avLst/>
          </a:prstGeom>
          <a:noFill/>
          <a:ln/>
        </p:spPr>
        <p:txBody>
          <a:bodyPr wrap="square" lIns="0" tIns="0" rIns="0" bIns="0" rtlCol="0" anchor="ctr">
            <a:normAutofit/>
          </a:bodyPr>
          <a:lstStyle/>
          <a:p>
            <a:pPr indent="0" marL="0" algn="l">
              <a:buNone/>
            </a:pPr>
            <a:r>
              <a:rPr lang="en-US" sz="1100" b="1" dirty="0">
                <a:solidFill>
                  <a:srgbClr val="1F4E79"/>
                </a:solidFill>
                <a:latin typeface="Arial" pitchFamily="34" charset="0"/>
                <a:ea typeface="Arial" pitchFamily="34" charset="-122"/>
                <a:cs typeface="Arial" pitchFamily="34" charset="-120"/>
              </a:rPr>
              <a:t>BOTTOM LINE</a:t>
            </a:r>
            <a:endParaRPr lang="en-US" sz="1100" dirty="0"/>
          </a:p>
        </p:txBody>
      </p:sp>
      <p:sp>
        <p:nvSpPr>
          <p:cNvPr id="47" name="Conclusion"/>
          <p:cNvSpPr/>
          <p:nvPr/>
        </p:nvSpPr>
        <p:spPr>
          <a:xfrm>
            <a:off x="2280000" y="5500000"/>
            <a:ext cx="8600000" cy="560000"/>
          </a:xfrm>
          <a:prstGeom prst="rect">
            <a:avLst/>
          </a:prstGeom>
          <a:noFill/>
          <a:ln/>
        </p:spPr>
        <p:txBody>
          <a:bodyPr wrap="square" lIns="0" tIns="0" rIns="0" bIns="0" rtlCol="0" anchor="ctr">
            <a:normAutofit/>
          </a:bodyPr>
          <a:lstStyle/>
          <a:p>
            <a:pPr indent="0" marL="0" algn="l">
              <a:buNone/>
            </a:pPr>
            <a:r>
              <a:rPr lang="en-US" sz="1400" dirty="0">
                <a:solidFill>
                  <a:srgbClr val="222222"/>
                </a:solidFill>
                <a:latin typeface="Arial" pitchFamily="34" charset="0"/>
                <a:ea typeface="Arial" pitchFamily="34" charset="-122"/>
                <a:cs typeface="Arial" pitchFamily="34" charset="-120"/>
              </a:rPr>
              <a:t>The model is an interpolation model over the trained stimulus family.</a:t>
            </a:r>
            <a:endParaRPr lang="en-US" sz="1400" dirty="0"/>
          </a:p>
          <a:p>
            <a:pPr indent="0" marL="0" algn="l">
              <a:buNone/>
            </a:pPr>
            <a:r>
              <a:rPr lang="en-US" sz="1400" dirty="0">
                <a:solidFill>
                  <a:srgbClr val="222222"/>
                </a:solidFill>
                <a:latin typeface="Arial" pitchFamily="34" charset="0"/>
                <a:ea typeface="Arial" pitchFamily="34" charset="-122"/>
                <a:cs typeface="Arial" pitchFamily="34" charset="-120"/>
              </a:rPr>
              <a:t>It can handle new frequencies/condition cells better than new pattern identities.</a:t>
            </a:r>
            <a:endParaRPr lang="en-US" sz="1400" dirty="0"/>
          </a:p>
        </p:txBody>
      </p:sp>
      <p:pic>
        <p:nvPicPr>
          <p:cNvPr id="50" name="Image footer logo"/>
          <p:cNvPicPr>
            <a:picLocks noChangeAspect="1"/>
          </p:cNvPicPr>
          <p:nvPr/>
        </p:nvPicPr>
        <p:blipFill>
          <a:blip r:embed="rId2"/>
          <a:stretch>
            <a:fillRect/>
          </a:stretch>
        </p:blipFill>
        <p:spPr>
          <a:xfrm>
            <a:off x="566928" y="6355080"/>
            <a:ext cx="1143000" cy="187452"/>
          </a:xfrm>
          <a:prstGeom prst="rect">
            <a:avLst/>
          </a:prstGeom>
        </p:spPr>
      </p:pic>
      <p:sp>
        <p:nvSpPr>
          <p:cNvPr id="51" name="Footer"/>
          <p:cNvSpPr/>
          <p:nvPr/>
        </p:nvSpPr>
        <p:spPr>
          <a:xfrm>
            <a:off x="2331720" y="6345936"/>
            <a:ext cx="3840480" cy="228600"/>
          </a:xfrm>
          <a:prstGeom prst="rect">
            <a:avLst/>
          </a:prstGeom>
          <a:noFill/>
          <a:ln/>
        </p:spPr>
        <p:txBody>
          <a:bodyPr wrap="square" lIns="0" tIns="0" rIns="0" bIns="0" rtlCol="0" anchor="ctr">
            <a:normAutofit/>
          </a:bodyPr>
          <a:lstStyle/>
          <a:p>
            <a:pPr indent="0" marL="0" algn="l">
              <a:buNone/>
            </a:pPr>
            <a:r>
              <a:rPr lang="en-US" sz="1200" dirty="0">
                <a:solidFill>
                  <a:srgbClr val="777777"/>
                </a:solidFill>
                <a:latin typeface="Arial" pitchFamily="34" charset="0"/>
                <a:ea typeface="Arial" pitchFamily="34" charset="-122"/>
                <a:cs typeface="Arial" pitchFamily="34" charset="-120"/>
              </a:rPr>
              <a:t>Group 4 · Task 2 Prediction</a:t>
            </a:r>
            <a:endParaRPr lang="en-US" sz="1200" dirty="0"/>
          </a:p>
        </p:txBody>
      </p:sp>
      <p:sp>
        <p:nvSpPr>
          <p:cNvPr id="52" name="Slide number"/>
          <p:cNvSpPr/>
          <p:nvPr/>
        </p:nvSpPr>
        <p:spPr>
          <a:xfrm>
            <a:off x="11201400" y="6345936"/>
            <a:ext cx="228600" cy="228600"/>
          </a:xfrm>
          <a:prstGeom prst="rect">
            <a:avLst/>
          </a:prstGeom>
          <a:noFill/>
          <a:ln/>
        </p:spPr>
        <p:txBody>
          <a:bodyPr wrap="square" lIns="0" tIns="0" rIns="0" bIns="0" rtlCol="0" anchor="ctr">
            <a:normAutofit/>
          </a:bodyPr>
          <a:lstStyle/>
          <a:p>
            <a:pPr indent="0" marL="0" algn="r">
              <a:buNone/>
            </a:pPr>
            <a:r>
              <a:rPr lang="en-US" sz="1200" dirty="0">
                <a:solidFill>
                  <a:srgbClr val="777777"/>
                </a:solidFill>
                <a:latin typeface="Arial" pitchFamily="34" charset="0"/>
                <a:ea typeface="Arial" pitchFamily="34" charset="-122"/>
                <a:cs typeface="Arial" pitchFamily="34" charset="-120"/>
              </a:rPr>
              <a:t>9</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ETH Zurich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Task 1: decoding stimulation patterns</dc:title>
  <dc:subject>Task 1 Decoding</dc:subject>
  <dc:creator>Group 4</dc:creator>
  <cp:lastModifiedBy>Group 4</cp:lastModifiedBy>
  <cp:revision>1</cp:revision>
  <dcterms:created xsi:type="dcterms:W3CDTF">2026-05-25T22:18:48Z</dcterms:created>
  <dcterms:modified xsi:type="dcterms:W3CDTF">2026-05-25T22:18:48Z</dcterms:modified>
</cp:coreProperties>
</file>